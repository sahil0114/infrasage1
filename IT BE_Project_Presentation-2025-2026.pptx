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0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9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 type="screen16x9"/>
  <p:notesSz cx="9144000" cy="5143500"/>
  <p:embeddedFontLst>
    <p:embeddedFont>
      <p:font typeface="CRAJMG+Arial-BoldMT" panose="020B0604020202020204"/>
      <p:regular r:id="rId27"/>
    </p:embeddedFont>
    <p:embeddedFont>
      <p:font typeface="JLPAIK+ArialMT" panose="020B0604020202020204"/>
      <p:regular r:id="rId28"/>
    </p:embeddedFont>
    <p:embeddedFont>
      <p:font typeface="KOLMNO+TimesNewRomanPSMT" panose="020B0604020202020204"/>
      <p:regular r:id="rId29"/>
    </p:embeddedFont>
    <p:embeddedFont>
      <p:font typeface="QHJKMV+TimesNewRomanPS-BoldMT" panose="020B06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042" y="53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34175" y="2270986"/>
            <a:ext cx="6589140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FFFBF0"/>
                </a:solidFill>
                <a:latin typeface="QHJKMV+TimesNewRomanPS-BoldMT"/>
                <a:cs typeface="QHJKMV+TimesNewRomanPS-BoldMT"/>
              </a:rPr>
              <a:t>Department of Information Technology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11087" y="2728186"/>
            <a:ext cx="6803566" cy="1558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91213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FFFBF0"/>
                </a:solidFill>
                <a:latin typeface="QHJKMV+TimesNewRomanPS-BoldMT"/>
                <a:cs typeface="QHJKMV+TimesNewRomanPS-BoldMT"/>
              </a:rPr>
              <a:t>NBA Accredited</a:t>
            </a:r>
          </a:p>
          <a:p>
            <a:pPr marL="1274355" marR="0">
              <a:lnSpc>
                <a:spcPts val="2657"/>
              </a:lnSpc>
              <a:spcBef>
                <a:spcPts val="233"/>
              </a:spcBef>
              <a:spcAft>
                <a:spcPts val="0"/>
              </a:spcAft>
            </a:pPr>
            <a:r>
              <a:rPr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A.P. Shah Institute of Technology</a:t>
            </a:r>
          </a:p>
          <a:p>
            <a:pPr marL="0" marR="0">
              <a:lnSpc>
                <a:spcPts val="2657"/>
              </a:lnSpc>
              <a:spcBef>
                <a:spcPts val="222"/>
              </a:spcBef>
              <a:spcAft>
                <a:spcPts val="0"/>
              </a:spcAft>
            </a:pPr>
            <a:r>
              <a:rPr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G.B.Road, Kasarvadavli, Thane (W), Mumbai-400615</a:t>
            </a:r>
          </a:p>
          <a:p>
            <a:pPr marL="1496028" marR="0">
              <a:lnSpc>
                <a:spcPts val="2657"/>
              </a:lnSpc>
              <a:spcBef>
                <a:spcPts val="222"/>
              </a:spcBef>
              <a:spcAft>
                <a:spcPts val="0"/>
              </a:spcAft>
            </a:pPr>
            <a:r>
              <a:rPr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UNIVERSITY OF MUMBAI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4329" y="4276990"/>
            <a:ext cx="3448151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Academic Year 202</a:t>
            </a:r>
            <a:r>
              <a:rPr lang="en-US"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5</a:t>
            </a:r>
            <a:r>
              <a:rPr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-202</a:t>
            </a:r>
            <a:r>
              <a:rPr lang="en-US"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6</a:t>
            </a:r>
            <a:endParaRPr sz="2400" dirty="0">
              <a:solidFill>
                <a:srgbClr val="FFFBF0"/>
              </a:solidFill>
              <a:latin typeface="KOLMNO+TimesNewRomanPSMT"/>
              <a:cs typeface="KOLMNO+TimesNewRomanPS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01651" y="108469"/>
            <a:ext cx="247988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A Project</a:t>
            </a:r>
            <a:r>
              <a:rPr sz="1800" spc="-93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 </a:t>
            </a: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Presentation</a:t>
            </a:r>
            <a:r>
              <a:rPr sz="1800" spc="1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 </a:t>
            </a: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99875" y="388466"/>
            <a:ext cx="4490390" cy="1199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3359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Title of your project</a:t>
            </a:r>
          </a:p>
          <a:p>
            <a:pPr marL="0" marR="0">
              <a:lnSpc>
                <a:spcPts val="1993"/>
              </a:lnSpc>
              <a:spcBef>
                <a:spcPts val="127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Submitted in partial fulfillment of the degree of</a:t>
            </a:r>
          </a:p>
          <a:p>
            <a:pPr marL="675068" marR="0">
              <a:lnSpc>
                <a:spcPts val="1993"/>
              </a:lnSpc>
              <a:spcBef>
                <a:spcPts val="16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Bachelor of Engineering(Sem-8)</a:t>
            </a:r>
          </a:p>
          <a:p>
            <a:pPr marL="2082990" marR="0">
              <a:lnSpc>
                <a:spcPts val="1993"/>
              </a:lnSpc>
              <a:spcBef>
                <a:spcPts val="11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in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70194" y="1571509"/>
            <a:ext cx="3569856" cy="565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INFORMATION TECHNOLOGY</a:t>
            </a:r>
          </a:p>
          <a:p>
            <a:pPr marL="1568221" marR="0">
              <a:lnSpc>
                <a:spcPts val="1993"/>
              </a:lnSpc>
              <a:spcBef>
                <a:spcPts val="16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By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92228" y="2120149"/>
            <a:ext cx="2908758" cy="13465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Name Of student1(moodle Id)</a:t>
            </a:r>
          </a:p>
          <a:p>
            <a:pPr marL="0" marR="0">
              <a:lnSpc>
                <a:spcPts val="1993"/>
              </a:lnSpc>
              <a:spcBef>
                <a:spcPts val="16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Name Of student2(moodle Id)</a:t>
            </a:r>
          </a:p>
          <a:p>
            <a:pPr marL="0" marR="0">
              <a:lnSpc>
                <a:spcPts val="1993"/>
              </a:lnSpc>
              <a:spcBef>
                <a:spcPts val="11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Name Of student3(moodle Id)</a:t>
            </a:r>
            <a:endParaRPr lang="en-US" sz="1800" dirty="0">
              <a:solidFill>
                <a:srgbClr val="000000"/>
              </a:solidFill>
              <a:latin typeface="KOLMNO+TimesNewRomanPSMT"/>
              <a:cs typeface="KOLMNO+TimesNewRomanPSMT"/>
            </a:endParaRPr>
          </a:p>
          <a:p>
            <a:pPr>
              <a:lnSpc>
                <a:spcPts val="1993"/>
              </a:lnSpc>
              <a:spcBef>
                <a:spcPts val="116"/>
              </a:spcBef>
            </a:pPr>
            <a:r>
              <a:rPr lang="en-US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Name Of student4(</a:t>
            </a:r>
            <a:r>
              <a:rPr lang="en-US" dirty="0" err="1">
                <a:solidFill>
                  <a:srgbClr val="000000"/>
                </a:solidFill>
                <a:latin typeface="KOLMNO+TimesNewRomanPSMT"/>
                <a:cs typeface="KOLMNO+TimesNewRomanPSMT"/>
              </a:rPr>
              <a:t>moodle</a:t>
            </a:r>
            <a:r>
              <a:rPr lang="en-US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 Id)</a:t>
            </a:r>
          </a:p>
          <a:p>
            <a:pPr marL="0" marR="0">
              <a:lnSpc>
                <a:spcPts val="1993"/>
              </a:lnSpc>
              <a:spcBef>
                <a:spcPts val="116"/>
              </a:spcBef>
              <a:spcAft>
                <a:spcPts val="0"/>
              </a:spcAft>
            </a:pPr>
            <a:endParaRPr sz="1800" dirty="0">
              <a:solidFill>
                <a:srgbClr val="000000"/>
              </a:solidFill>
              <a:latin typeface="KOLMNO+TimesNewRomanPSMT"/>
              <a:cs typeface="KOLMNO+TimesNewRomanPS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8397" y="3217429"/>
            <a:ext cx="2236751" cy="565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Under the Guidance of</a:t>
            </a:r>
          </a:p>
          <a:p>
            <a:pPr marL="339216" marR="0">
              <a:lnSpc>
                <a:spcPts val="1993"/>
              </a:lnSpc>
              <a:spcBef>
                <a:spcPts val="16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Name of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8289" y="2752123"/>
            <a:ext cx="7819466" cy="60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2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FFFBF0"/>
                </a:solidFill>
                <a:latin typeface="QHJKMV+TimesNewRomanPS-BoldMT"/>
                <a:cs typeface="QHJKMV+TimesNewRomanPS-BoldMT"/>
              </a:rPr>
              <a:t>1.Project Conception and Initiation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4782"/>
            <a:ext cx="2139444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1.1 Abstract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6599" y="1610527"/>
            <a:ext cx="294310" cy="931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41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36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4782"/>
            <a:ext cx="2434523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1.2 Objectives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6599" y="1292380"/>
            <a:ext cx="294310" cy="931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41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36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4782"/>
            <a:ext cx="3690938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434343"/>
                </a:solidFill>
                <a:latin typeface="QHJKMV+TimesNewRomanPS-BoldMT"/>
                <a:cs typeface="QHJKMV+TimesNewRomanPS-BoldMT"/>
              </a:rPr>
              <a:t>1.3 Literature Review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6599" y="1292380"/>
            <a:ext cx="294310" cy="931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41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36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4782"/>
            <a:ext cx="3840156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1.4 Problem Definition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6599" y="1292380"/>
            <a:ext cx="294310" cy="931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41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36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4782"/>
            <a:ext cx="1674944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1.5 Scope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6599" y="1292380"/>
            <a:ext cx="294310" cy="931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41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36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4782"/>
            <a:ext cx="3545517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1.6 Technology stack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6599" y="1292380"/>
            <a:ext cx="294310" cy="931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41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36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4782"/>
            <a:ext cx="6449822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1.7 Benefits for environment &amp; Society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6599" y="1292380"/>
            <a:ext cx="294310" cy="931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41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36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99F9B7-67ED-42B2-6BCA-E2510B416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35BD370D-DB44-68C8-6C64-E2E7465A4F9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150931C-B833-FAA3-D8CA-45D23A81614C}"/>
              </a:ext>
            </a:extLst>
          </p:cNvPr>
          <p:cNvSpPr txBox="1"/>
          <p:nvPr/>
        </p:nvSpPr>
        <p:spPr>
          <a:xfrm>
            <a:off x="401759" y="564782"/>
            <a:ext cx="644982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defRPr/>
            </a:pP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SDG Mapped with Contribution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956E139-FF74-E7A1-CA93-C1CB3AD0B368}"/>
              </a:ext>
            </a:extLst>
          </p:cNvPr>
          <p:cNvSpPr txBox="1"/>
          <p:nvPr/>
        </p:nvSpPr>
        <p:spPr>
          <a:xfrm>
            <a:off x="516599" y="1292380"/>
            <a:ext cx="294310" cy="931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41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36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908230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9436" y="2723535"/>
            <a:ext cx="4013332" cy="628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51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QHJKMV+TimesNewRomanPS-BoldMT"/>
                <a:cs typeface="QHJKMV+TimesNewRomanPS-BoldMT"/>
              </a:rPr>
              <a:t>2. Project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4782"/>
            <a:ext cx="3503297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2.1 Proposed 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6599" y="1292380"/>
            <a:ext cx="294310" cy="931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41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36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4782"/>
            <a:ext cx="4887217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2.2 Design(Flow Of Modules)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6599" y="1292380"/>
            <a:ext cx="294310" cy="931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41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36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4782"/>
            <a:ext cx="4685988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2.3 Description Of Use Case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4782"/>
            <a:ext cx="3481454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2.4 Activity diagram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4782"/>
            <a:ext cx="3122933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2.5 Class Diagram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9360" y="2798433"/>
            <a:ext cx="4680982" cy="634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2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CRAJMG+Arial-BoldMT"/>
                <a:cs typeface="CRAJMG+Arial-BoldMT"/>
              </a:rPr>
              <a:t>3. Implementation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442AA31-0033-E355-A5DD-2D0B6805C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7B3C0F1A-48BB-57FE-6F8F-8F2D9A82EC0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0233999-A532-476C-E177-C2BD7EE9D597}"/>
              </a:ext>
            </a:extLst>
          </p:cNvPr>
          <p:cNvSpPr txBox="1"/>
          <p:nvPr/>
        </p:nvSpPr>
        <p:spPr>
          <a:xfrm>
            <a:off x="401759" y="564782"/>
            <a:ext cx="8130681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defRPr/>
            </a:pPr>
            <a:r>
              <a:rPr lang="en-US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Cost Estimation using COCOMO-II Model</a:t>
            </a:r>
            <a:endParaRPr lang="en-IN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298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2639" y="2719593"/>
            <a:ext cx="2638415" cy="634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2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CRAJMG+Arial-BoldMT"/>
                <a:cs typeface="CRAJMG+Arial-BoldMT"/>
              </a:rPr>
              <a:t>4. Testing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2639" y="2719593"/>
            <a:ext cx="2372465" cy="634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2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CRAJMG+Arial-BoldMT"/>
                <a:cs typeface="CRAJMG+Arial-BoldMT"/>
              </a:rPr>
              <a:t>5. Result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2639" y="2079513"/>
            <a:ext cx="6542892" cy="12740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2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CRAJMG+Arial-BoldMT"/>
                <a:cs typeface="CRAJMG+Arial-BoldMT"/>
              </a:rPr>
              <a:t>6. Conclusion and Future</a:t>
            </a:r>
          </a:p>
          <a:p>
            <a:pPr marL="0" marR="0">
              <a:lnSpc>
                <a:spcPts val="4692"/>
              </a:lnSpc>
              <a:spcBef>
                <a:spcPts val="347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CRAJMG+Arial-BoldMT"/>
                <a:cs typeface="CRAJMG+Arial-BoldMT"/>
              </a:rPr>
              <a:t>Scope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6882" y="564782"/>
            <a:ext cx="1929221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6599" y="1292380"/>
            <a:ext cx="294310" cy="931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41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  <a:p>
            <a:pPr marL="0" marR="0">
              <a:lnSpc>
                <a:spcPts val="2066"/>
              </a:lnSpc>
              <a:spcBef>
                <a:spcPts val="367"/>
              </a:spcBef>
              <a:spcAft>
                <a:spcPts val="0"/>
              </a:spcAft>
            </a:pPr>
            <a:r>
              <a:rPr sz="1850" dirty="0">
                <a:solidFill>
                  <a:srgbClr val="000000"/>
                </a:solidFill>
                <a:latin typeface="JLPAIK+ArialMT"/>
                <a:cs typeface="JLPAIK+ArialMT"/>
              </a:rPr>
              <a:t>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1966"/>
            <a:ext cx="3134798" cy="463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JLPAIK+ArialMT"/>
                <a:cs typeface="JLPAIK+ArialMT"/>
              </a:rPr>
              <a:t>Paper Publication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03991" y="2723535"/>
            <a:ext cx="2744856" cy="628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51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QHJKMV+TimesNewRomanPS-BoldMT"/>
                <a:cs typeface="QHJKMV+TimesNewRomanPS-BoldM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211</Words>
  <Application>Microsoft Office PowerPoint</Application>
  <PresentationFormat>On-screen Show (16:9)</PresentationFormat>
  <Paragraphs>76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KOLMNO+TimesNewRomanPSMT</vt:lpstr>
      <vt:lpstr>Calibri</vt:lpstr>
      <vt:lpstr>JLPAIK+ArialMT</vt:lpstr>
      <vt:lpstr>Times New Roman</vt:lpstr>
      <vt:lpstr>CRAJMG+Arial-BoldMT</vt:lpstr>
      <vt:lpstr>QHJKMV+TimesNewRomanPS-BoldMT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lastModifiedBy>Vishal Badgujar</cp:lastModifiedBy>
  <cp:revision>3</cp:revision>
  <dcterms:modified xsi:type="dcterms:W3CDTF">2026-02-12T06:27:25Z</dcterms:modified>
</cp:coreProperties>
</file>