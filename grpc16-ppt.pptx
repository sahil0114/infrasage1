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0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1" r:id="rId20"/>
    <p:sldId id="285" r:id="rId21"/>
    <p:sldId id="286" r:id="rId22"/>
    <p:sldId id="287" r:id="rId23"/>
    <p:sldId id="288" r:id="rId24"/>
    <p:sldId id="289" r:id="rId25"/>
    <p:sldId id="290" r:id="rId26"/>
    <p:sldId id="279" r:id="rId27"/>
    <p:sldId id="273" r:id="rId28"/>
    <p:sldId id="282" r:id="rId29"/>
    <p:sldId id="274" r:id="rId30"/>
    <p:sldId id="283" r:id="rId31"/>
    <p:sldId id="275" r:id="rId32"/>
    <p:sldId id="284" r:id="rId33"/>
    <p:sldId id="276" r:id="rId34"/>
    <p:sldId id="291" r:id="rId35"/>
    <p:sldId id="277" r:id="rId36"/>
    <p:sldId id="278" r:id="rId37"/>
  </p:sldIdLst>
  <p:sldSz cx="9144000" cy="5143500" type="screen16x9"/>
  <p:notesSz cx="9144000" cy="5143500"/>
  <p:embeddedFontLst>
    <p:embeddedFont>
      <p:font typeface="CRAJMG+Arial-BoldMT" panose="020B0604020202020204"/>
      <p:regular r:id="rId39"/>
    </p:embeddedFont>
    <p:embeddedFont>
      <p:font typeface="JLPAIK+ArialMT" panose="020B0604020202020204"/>
      <p:regular r:id="rId40"/>
    </p:embeddedFont>
    <p:embeddedFont>
      <p:font typeface="KOLMNO+TimesNewRomanPSMT" panose="020B0604020202020204"/>
      <p:regular r:id="rId41"/>
    </p:embeddedFont>
    <p:embeddedFont>
      <p:font typeface="QHJKMV+TimesNewRomanPS-BoldMT" panose="020B060402020202020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203400-2179-4483-8229-4D465909E91D}" v="103" dt="2026-04-08T06:55:18.101"/>
    <p1510:client id="{EA1BED4A-560F-4F3E-A6D6-EB811A0344CF}" v="292" dt="2026-04-08T02:21:27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8" autoAdjust="0"/>
  </p:normalViewPr>
  <p:slideViewPr>
    <p:cSldViewPr>
      <p:cViewPr varScale="1">
        <p:scale>
          <a:sx n="103" d="100"/>
          <a:sy n="103" d="100"/>
        </p:scale>
        <p:origin x="874" y="-109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85475-0855-4030-9D82-DD75ED94516A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D58EF-37B4-4163-9110-6D9E0335E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30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D58EF-37B4-4163-9110-6D9E0335E19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199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34175" y="2270986"/>
            <a:ext cx="6589140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Department of Information Technology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11087" y="2728186"/>
            <a:ext cx="6803566" cy="1558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91213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NBA Accredited</a:t>
            </a:r>
          </a:p>
          <a:p>
            <a:pPr marL="1274355" marR="0">
              <a:lnSpc>
                <a:spcPts val="2657"/>
              </a:lnSpc>
              <a:spcBef>
                <a:spcPts val="233"/>
              </a:spcBef>
              <a:spcAft>
                <a:spcPts val="0"/>
              </a:spcAft>
            </a:pP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A.P. Shah Institute of Technology</a:t>
            </a:r>
          </a:p>
          <a:p>
            <a:pPr marL="0" marR="0">
              <a:lnSpc>
                <a:spcPts val="2657"/>
              </a:lnSpc>
              <a:spcBef>
                <a:spcPts val="222"/>
              </a:spcBef>
              <a:spcAft>
                <a:spcPts val="0"/>
              </a:spcAft>
            </a:pP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G.B.Road, Kasarvadavli, Thane (W), Mumbai-400615</a:t>
            </a:r>
          </a:p>
          <a:p>
            <a:pPr marL="1496028" marR="0">
              <a:lnSpc>
                <a:spcPts val="2657"/>
              </a:lnSpc>
              <a:spcBef>
                <a:spcPts val="222"/>
              </a:spcBef>
              <a:spcAft>
                <a:spcPts val="0"/>
              </a:spcAft>
            </a:pP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UNIVERSITY OF MUMBAI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4329" y="4276990"/>
            <a:ext cx="3448151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Academic Year 202</a:t>
            </a:r>
            <a:r>
              <a:rPr lang="en-US"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5</a:t>
            </a:r>
            <a:r>
              <a:rPr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-202</a:t>
            </a:r>
            <a:r>
              <a:rPr lang="en-US" sz="2400" dirty="0">
                <a:solidFill>
                  <a:srgbClr val="FFFBF0"/>
                </a:solidFill>
                <a:latin typeface="KOLMNO+TimesNewRomanPSMT"/>
                <a:cs typeface="KOLMNO+TimesNewRomanPSMT"/>
              </a:rPr>
              <a:t>6</a:t>
            </a:r>
            <a:endParaRPr sz="2400" dirty="0">
              <a:solidFill>
                <a:srgbClr val="FFFBF0"/>
              </a:solidFill>
              <a:latin typeface="KOLMNO+TimesNewRomanPSMT"/>
              <a:cs typeface="KOLMNO+TimesNewRomanPS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01651" y="108469"/>
            <a:ext cx="247988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A Project</a:t>
            </a:r>
            <a:r>
              <a:rPr sz="1800" spc="-93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 </a:t>
            </a: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Presentation</a:t>
            </a:r>
            <a:r>
              <a:rPr sz="1800" spc="1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 </a:t>
            </a: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99875" y="388466"/>
            <a:ext cx="4490390" cy="133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993"/>
              </a:lnSpc>
              <a:spcBef>
                <a:spcPts val="127"/>
              </a:spcBef>
            </a:pPr>
            <a:r>
              <a:rPr lang="en-US" b="1" dirty="0" err="1"/>
              <a:t>Infrasage</a:t>
            </a:r>
            <a:r>
              <a:rPr lang="en-US" b="1" dirty="0"/>
              <a:t> – AI-Augmented </a:t>
            </a:r>
            <a:r>
              <a:rPr lang="en-US" b="1" dirty="0" err="1"/>
              <a:t>DevSecOps</a:t>
            </a:r>
            <a:r>
              <a:rPr lang="en-US" b="1" dirty="0"/>
              <a:t> with Natural Language </a:t>
            </a:r>
            <a:r>
              <a:rPr lang="en-US" b="1" dirty="0" err="1"/>
              <a:t>Iac</a:t>
            </a:r>
            <a:r>
              <a:rPr lang="en-US" b="1" dirty="0"/>
              <a:t> and Drift resilient CI/CD</a:t>
            </a:r>
          </a:p>
          <a:p>
            <a:pPr>
              <a:lnSpc>
                <a:spcPts val="1993"/>
              </a:lnSpc>
              <a:spcBef>
                <a:spcPts val="127"/>
              </a:spcBef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Submitted in partial fulfillment of the degree of</a:t>
            </a:r>
          </a:p>
          <a:p>
            <a:pPr marL="675068" marR="0">
              <a:lnSpc>
                <a:spcPts val="1993"/>
              </a:lnSpc>
              <a:spcBef>
                <a:spcPts val="16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Bachelor of Engineering(Sem-8)</a:t>
            </a:r>
          </a:p>
          <a:p>
            <a:pPr marL="2082990" marR="0">
              <a:lnSpc>
                <a:spcPts val="1993"/>
              </a:lnSpc>
              <a:spcBef>
                <a:spcPts val="116"/>
              </a:spcBef>
              <a:spcAft>
                <a:spcPts val="0"/>
              </a:spcAft>
            </a:pPr>
            <a:r>
              <a:rPr lang="en-IN"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I</a:t>
            </a: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n</a:t>
            </a:r>
            <a:endParaRPr lang="en-IN" sz="1800" dirty="0">
              <a:solidFill>
                <a:srgbClr val="000000"/>
              </a:solidFill>
              <a:latin typeface="KOLMNO+TimesNewRomanPSMT"/>
              <a:cs typeface="KOLMNO+TimesNewRomanPS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7824" y="1638369"/>
            <a:ext cx="3401217" cy="53860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ts val="1993"/>
              </a:lnSpc>
            </a:pPr>
            <a:r>
              <a:rPr sz="18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INFORMATION </a:t>
            </a:r>
            <a:r>
              <a:rPr lang="en-US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TECHNOLOGY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567815">
              <a:lnSpc>
                <a:spcPts val="1993"/>
              </a:lnSpc>
              <a:spcBef>
                <a:spcPts val="166"/>
              </a:spcBef>
            </a:pPr>
            <a:r>
              <a:rPr lang="en-US" dirty="0">
                <a:solidFill>
                  <a:srgbClr val="000000"/>
                </a:solidFill>
                <a:latin typeface="KOLMNO+TimesNewRomanPSMT"/>
                <a:cs typeface="QHJKMV+TimesNewRomanPS-BoldMT"/>
              </a:rPr>
              <a:t>By</a:t>
            </a:r>
            <a:endParaRPr lang="en-US"/>
          </a:p>
        </p:txBody>
      </p:sp>
      <p:sp>
        <p:nvSpPr>
          <p:cNvPr id="6" name="object 6"/>
          <p:cNvSpPr txBox="1"/>
          <p:nvPr/>
        </p:nvSpPr>
        <p:spPr>
          <a:xfrm>
            <a:off x="3477081" y="2127387"/>
            <a:ext cx="2908758" cy="13465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93"/>
              </a:lnSpc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Sahil Gada (23204019)</a:t>
            </a:r>
            <a:endParaRPr sz="18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LMNO+TimesNewRomanPSMT"/>
              <a:cs typeface="KOLMNO+TimesNewRomanPSMT"/>
            </a:endParaRPr>
          </a:p>
          <a:p>
            <a:pPr>
              <a:lnSpc>
                <a:spcPts val="1993"/>
              </a:lnSpc>
              <a:spcBef>
                <a:spcPts val="166"/>
              </a:spcBef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Swayam Shah (23204005)</a:t>
            </a:r>
            <a:endParaRPr sz="18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LMNO+TimesNewRomanPSMT"/>
              <a:cs typeface="KOLMNO+TimesNewRomanPSMT"/>
            </a:endParaRPr>
          </a:p>
          <a:p>
            <a:pPr>
              <a:lnSpc>
                <a:spcPts val="1993"/>
              </a:lnSpc>
              <a:spcBef>
                <a:spcPts val="116"/>
              </a:spcBef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Kushagra Singh (22104182) </a:t>
            </a:r>
            <a:endParaRPr lang="en-US" sz="18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LMNO+TimesNewRomanPSMT"/>
              <a:cs typeface="KOLMNO+TimesNewRomanPSMT"/>
            </a:endParaRPr>
          </a:p>
          <a:p>
            <a:pPr>
              <a:lnSpc>
                <a:spcPts val="1993"/>
              </a:lnSpc>
              <a:spcBef>
                <a:spcPts val="116"/>
              </a:spcBef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Pranav Patil (21104134)</a:t>
            </a:r>
            <a:endParaRPr lang="en-US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LMNO+TimesNewRomanPSMT"/>
              <a:cs typeface="KOLMNO+TimesNewRomanPSMT"/>
            </a:endParaRPr>
          </a:p>
          <a:p>
            <a:pPr marL="0" marR="0">
              <a:lnSpc>
                <a:spcPts val="1993"/>
              </a:lnSpc>
              <a:spcBef>
                <a:spcPts val="116"/>
              </a:spcBef>
              <a:spcAft>
                <a:spcPts val="0"/>
              </a:spcAft>
            </a:pPr>
            <a:endParaRPr sz="1800" dirty="0">
              <a:solidFill>
                <a:srgbClr val="000000"/>
              </a:solidFill>
              <a:latin typeface="KOLMNO+TimesNewRomanPSMT"/>
              <a:cs typeface="KOLMNO+TimesNewRomanPS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8397" y="3217429"/>
            <a:ext cx="2236751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OLMNO+TimesNewRomanPSMT"/>
                <a:cs typeface="KOLMNO+TimesNewRomanPSMT"/>
              </a:rPr>
              <a:t>Under the Guidance of</a:t>
            </a:r>
            <a:endParaRPr lang="en-IN" sz="1800" dirty="0">
              <a:solidFill>
                <a:srgbClr val="000000"/>
              </a:solidFill>
              <a:latin typeface="KOLMNO+TimesNewRomanPSMT"/>
              <a:cs typeface="KOLMNO+TimesNewRomanPSMT"/>
            </a:endParaRPr>
          </a:p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>
                <a:solidFill>
                  <a:srgbClr val="000000"/>
                </a:solidFill>
                <a:latin typeface="KOLMNO+TimesNewRomanPSMT"/>
              </a:rPr>
              <a:t>   </a:t>
            </a:r>
            <a:r>
              <a:rPr lang="en-IN" b="1" dirty="0"/>
              <a:t>Dr. Vaibhav </a:t>
            </a:r>
            <a:r>
              <a:rPr lang="en-IN" b="1" dirty="0" err="1"/>
              <a:t>Yavalkar</a:t>
            </a:r>
            <a:endParaRPr sz="1800" b="1" dirty="0">
              <a:solidFill>
                <a:srgbClr val="000000"/>
              </a:solidFill>
              <a:latin typeface="KOLMNO+TimesNewRomanPSMT"/>
              <a:cs typeface="KOLMNO+TimesNewRomanPS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8289" y="2752123"/>
            <a:ext cx="7819466" cy="60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29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1.Project Conception and Initiation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7544" y="345236"/>
            <a:ext cx="2139444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1.1 Abstract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1A7FAE-DFE2-2BD0-9CB6-DEC395FEB79F}"/>
              </a:ext>
            </a:extLst>
          </p:cNvPr>
          <p:cNvSpPr txBox="1"/>
          <p:nvPr/>
        </p:nvSpPr>
        <p:spPr>
          <a:xfrm>
            <a:off x="827584" y="987574"/>
            <a:ext cx="6840760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InfraSage is an AI-driven DevSecOps framework that transforms natural-language infrastructure requests into Terraform code, automatically validates and secures that code using multiple scanners, and streamlines remediation, deployment, and observability through an integrated workflow. It combines local LLM-powered generation, policy-aware security checks, CI/CD automation, and Prometheus-Grafana monitoring to provide a practical end-to-end framework for secure Infrastructure as Code delivery.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7544" y="411510"/>
            <a:ext cx="2434523" cy="42319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1.2 </a:t>
            </a:r>
            <a:r>
              <a:rPr sz="3000" b="1" dirty="0">
                <a:solidFill>
                  <a:srgbClr val="000000"/>
                </a:solidFill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1085F-A2E0-AFDC-1FE1-177C1836AC03}"/>
              </a:ext>
            </a:extLst>
          </p:cNvPr>
          <p:cNvSpPr txBox="1"/>
          <p:nvPr/>
        </p:nvSpPr>
        <p:spPr>
          <a:xfrm>
            <a:off x="827584" y="871537"/>
            <a:ext cx="705678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>
                <a:latin typeface="Times New Roman"/>
                <a:cs typeface="Times New Roman"/>
              </a:rPr>
              <a:t>•</a:t>
            </a:r>
            <a:r>
              <a:rPr lang="en-IN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To convert natural-language infrastructure requirements into production-ready Terraform with minimal manual effort.</a:t>
            </a:r>
            <a:endParaRPr lang="en-US" sz="1000">
              <a:solidFill>
                <a:srgbClr val="CCCCCC"/>
              </a:solidFill>
              <a:highlight>
                <a:srgbClr val="181818"/>
              </a:highlight>
              <a:latin typeface="Calibri"/>
              <a:ea typeface="+mn-lt"/>
              <a:cs typeface="Calibri"/>
            </a:endParaRPr>
          </a:p>
          <a:p>
            <a:br>
              <a:rPr lang="en-US" dirty="0"/>
            </a:br>
            <a:r>
              <a:rPr lang="en-IN">
                <a:latin typeface="Times New Roman"/>
                <a:cs typeface="Times New Roman"/>
              </a:rPr>
              <a:t>•</a:t>
            </a:r>
            <a:r>
              <a:rPr lang="en-IN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To enforce security-by-default through integrated multi-scanner validation across generated IaC.</a:t>
            </a:r>
            <a:endParaRPr lang="en-US">
              <a:solidFill>
                <a:srgbClr val="000000"/>
              </a:solidFill>
              <a:latin typeface="Calibri"/>
              <a:ea typeface="+mn-lt"/>
              <a:cs typeface="Calibri"/>
            </a:endParaRPr>
          </a:p>
          <a:p>
            <a:endParaRPr lang="en-IN" dirty="0">
              <a:latin typeface="Times New Roman"/>
              <a:cs typeface="Times New Roman"/>
            </a:endParaRPr>
          </a:p>
          <a:p>
            <a:r>
              <a:rPr lang="en-IN">
                <a:latin typeface="Times New Roman"/>
                <a:cs typeface="Times New Roman"/>
              </a:rPr>
              <a:t>•To design a </a:t>
            </a:r>
            <a:r>
              <a:rPr lang="en-IN" err="1">
                <a:latin typeface="Times New Roman"/>
                <a:cs typeface="Times New Roman"/>
              </a:rPr>
              <a:t>GitOps</a:t>
            </a:r>
            <a:r>
              <a:rPr lang="en-IN" dirty="0">
                <a:latin typeface="Times New Roman"/>
                <a:cs typeface="Times New Roman"/>
              </a:rPr>
              <a:t>-based CI/CD pipeline for automated and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deployments.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/>
                <a:cs typeface="Times New Roman"/>
              </a:rPr>
              <a:t>•</a:t>
            </a:r>
            <a:r>
              <a:rPr lang="en-IN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To provide end-to-end operational observability through Prometheus metrics and Grafana dashboards.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/>
                <a:cs typeface="Times New Roman"/>
              </a:rPr>
              <a:t>•To develop a cost-effective and user-friendly </a:t>
            </a:r>
            <a:r>
              <a:rPr lang="en-IN" err="1">
                <a:latin typeface="Times New Roman"/>
                <a:cs typeface="Times New Roman"/>
              </a:rPr>
              <a:t>DevSecOps</a:t>
            </a:r>
            <a:endParaRPr lang="en-IN">
              <a:latin typeface="Times New Roman"/>
              <a:cs typeface="Times New Roman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accessible to small teams and students.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107504" y="1203598"/>
            <a:ext cx="9144000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79512" y="107571"/>
            <a:ext cx="3690938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434343"/>
                </a:solidFill>
                <a:latin typeface="QHJKMV+TimesNewRomanPS-BoldMT"/>
                <a:cs typeface="QHJKMV+TimesNewRomanPS-BoldMT"/>
              </a:rPr>
              <a:t>1.3 Literature Review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D01A5A7-0071-5B77-FBF7-88CF06A46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056594"/>
              </p:ext>
            </p:extLst>
          </p:nvPr>
        </p:nvGraphicFramePr>
        <p:xfrm>
          <a:off x="96495" y="567598"/>
          <a:ext cx="8892988" cy="41656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5500">
                  <a:extLst>
                    <a:ext uri="{9D8B030D-6E8A-4147-A177-3AD203B41FA5}">
                      <a16:colId xmlns:a16="http://schemas.microsoft.com/office/drawing/2014/main" val="1958026025"/>
                    </a:ext>
                  </a:extLst>
                </a:gridCol>
                <a:gridCol w="1519071">
                  <a:extLst>
                    <a:ext uri="{9D8B030D-6E8A-4147-A177-3AD203B41FA5}">
                      <a16:colId xmlns:a16="http://schemas.microsoft.com/office/drawing/2014/main" val="1637370412"/>
                    </a:ext>
                  </a:extLst>
                </a:gridCol>
                <a:gridCol w="951773">
                  <a:extLst>
                    <a:ext uri="{9D8B030D-6E8A-4147-A177-3AD203B41FA5}">
                      <a16:colId xmlns:a16="http://schemas.microsoft.com/office/drawing/2014/main" val="1519904858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658256375"/>
                    </a:ext>
                  </a:extLst>
                </a:gridCol>
                <a:gridCol w="5148572">
                  <a:extLst>
                    <a:ext uri="{9D8B030D-6E8A-4147-A177-3AD203B41FA5}">
                      <a16:colId xmlns:a16="http://schemas.microsoft.com/office/drawing/2014/main" val="3422026184"/>
                    </a:ext>
                  </a:extLst>
                </a:gridCol>
              </a:tblGrid>
              <a:tr h="471581">
                <a:tc>
                  <a:txBody>
                    <a:bodyPr/>
                    <a:lstStyle/>
                    <a:p>
                      <a:r>
                        <a:rPr lang="en-US" sz="1600" dirty="0"/>
                        <a:t>No.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Paper Title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Author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Year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Findings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529429"/>
                  </a:ext>
                </a:extLst>
              </a:tr>
              <a:tr h="71611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[1]</a:t>
                      </a:r>
                      <a:endParaRPr lang="en-IN" sz="1200" dirty="0"/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AI-Augmented </a:t>
                      </a:r>
                      <a:r>
                        <a:rPr lang="en-IN" sz="1200" dirty="0" err="1"/>
                        <a:t>DevSecOps</a:t>
                      </a:r>
                      <a:r>
                        <a:rPr lang="en-IN" sz="1200" dirty="0"/>
                        <a:t>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S. K. Chinnam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Introduced AI-based automation, telemetry-driven threat detection and compliance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098534"/>
                  </a:ext>
                </a:extLst>
              </a:tr>
              <a:tr h="744453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[2]</a:t>
                      </a:r>
                      <a:endParaRPr lang="en-IN" sz="1200" dirty="0"/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Using Large Language Models for Generating </a:t>
                      </a:r>
                      <a:r>
                        <a:rPr lang="en-US" sz="1200" dirty="0" err="1"/>
                        <a:t>IaC</a:t>
                      </a:r>
                      <a:r>
                        <a:rPr lang="en-US" sz="1200" dirty="0"/>
                        <a:t>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200" dirty="0"/>
                        <a:t>K. Ganesh Srivatsa et al.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039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Demonstrated that LLMs can translate natural language to </a:t>
                      </a:r>
                      <a:r>
                        <a:rPr lang="en-US" sz="1200" dirty="0" err="1"/>
                        <a:t>IaC</a:t>
                      </a:r>
                      <a:r>
                        <a:rPr lang="en-US" sz="1200" dirty="0"/>
                        <a:t>, simplifying infrastructure provisioning.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669375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[3]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DevSecOps</a:t>
                      </a:r>
                      <a:r>
                        <a:rPr lang="en-IN" sz="1200" dirty="0"/>
                        <a:t> Automation for Secure Cloud Infrastructure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S. Rao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Proposed automated security enforcement and remediation workflows.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994731"/>
                  </a:ext>
                </a:extLst>
              </a:tr>
              <a:tr h="7052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Automated </a:t>
                      </a:r>
                      <a:r>
                        <a:rPr lang="en-US" sz="1200" dirty="0" err="1"/>
                        <a:t>IaC</a:t>
                      </a:r>
                      <a:r>
                        <a:rPr lang="en-US" sz="1200" dirty="0"/>
                        <a:t> Validation using Policy-as-Code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A. Sharma, N. Gupta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Implemented automated validation using OPA and static analysis tools.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48808"/>
                  </a:ext>
                </a:extLst>
              </a:tr>
              <a:tr h="7052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InfraSage</a:t>
                      </a:r>
                      <a:r>
                        <a:rPr lang="en-IN" sz="1200" dirty="0"/>
                        <a:t> (This Work)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Sahil Gada et al.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Developed an AI-native framework combining NLP-based </a:t>
                      </a:r>
                      <a:r>
                        <a:rPr lang="en-US" sz="1200" dirty="0" err="1"/>
                        <a:t>IaC</a:t>
                      </a:r>
                      <a:r>
                        <a:rPr lang="en-US" sz="1200" dirty="0"/>
                        <a:t> generation, multi-layer security scanning, </a:t>
                      </a:r>
                      <a:r>
                        <a:rPr lang="en-US" sz="1200" dirty="0" err="1"/>
                        <a:t>GitOps</a:t>
                      </a:r>
                      <a:r>
                        <a:rPr lang="en-US" sz="1200" dirty="0"/>
                        <a:t> CI/CD and monitoring.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0496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1759" y="564782"/>
            <a:ext cx="3840156" cy="42319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1.4 </a:t>
            </a:r>
            <a:r>
              <a:rPr sz="3000" b="1" dirty="0">
                <a:solidFill>
                  <a:srgbClr val="000000"/>
                </a:solidFill>
                <a:latin typeface="Times New Roman"/>
                <a:cs typeface="Times New Roman"/>
              </a:rPr>
              <a:t>Problem</a:t>
            </a: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 Definition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FA0D8-E5DC-B7BC-2334-3CA5DF68D39E}"/>
              </a:ext>
            </a:extLst>
          </p:cNvPr>
          <p:cNvSpPr txBox="1"/>
          <p:nvPr/>
        </p:nvSpPr>
        <p:spPr>
          <a:xfrm>
            <a:off x="683568" y="1347614"/>
            <a:ext cx="7560840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>
                <a:latin typeface="Times New Roman"/>
                <a:ea typeface="+mn-lt"/>
                <a:cs typeface="Times New Roman"/>
              </a:rPr>
              <a:t>Modern infrastructure teams often struggle with slow, error-prone, and insecure Infrastructure as Code workflows, where translating requirements into correct Terraform, validating security, fixing issues, and deploying through CI/CD require fragmented tools and significant manual effort. This creates delays, inconsistent quality, and higher operational risk. InfraSage addresses this problem by providing a unified framework that automates the full IaC lifecycle from intent-to-code through scanning, remediation, deployment orchestration, and observability in one coordinated pipeline.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br>
              <a:rPr lang="en-US" dirty="0"/>
            </a:br>
            <a:endParaRPr lang="en-US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7544" y="483518"/>
            <a:ext cx="1674944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1.5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18A22-51A6-A262-964F-C3CD5CEB423A}"/>
              </a:ext>
            </a:extLst>
          </p:cNvPr>
          <p:cNvSpPr txBox="1"/>
          <p:nvPr/>
        </p:nvSpPr>
        <p:spPr>
          <a:xfrm>
            <a:off x="611560" y="967447"/>
            <a:ext cx="7776864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dirty="0">
                <a:latin typeface="Times New Roman"/>
                <a:cs typeface="Times New Roman"/>
              </a:rPr>
              <a:t>•AI-driven </a:t>
            </a:r>
            <a:r>
              <a:rPr lang="en-IN" err="1">
                <a:latin typeface="Times New Roman"/>
                <a:cs typeface="Times New Roman"/>
              </a:rPr>
              <a:t>DevSecOps</a:t>
            </a:r>
            <a:r>
              <a:rPr lang="en-IN">
                <a:latin typeface="Times New Roman"/>
                <a:cs typeface="Times New Roman"/>
              </a:rPr>
              <a:t> framework automating secure infrastructure creation using Terraform.</a:t>
            </a:r>
            <a:endParaRPr lang="en-US">
              <a:latin typeface="Times New Roman"/>
              <a:cs typeface="Times New Roman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/>
                <a:cs typeface="Times New Roman"/>
              </a:rPr>
              <a:t>•Uses NLP to convert user prompts into Terraform </a:t>
            </a:r>
            <a:r>
              <a:rPr lang="en-IN" err="1">
                <a:latin typeface="Times New Roman"/>
                <a:cs typeface="Times New Roman"/>
              </a:rPr>
              <a:t>IaC</a:t>
            </a:r>
            <a:r>
              <a:rPr lang="en-IN" dirty="0">
                <a:latin typeface="Times New Roman"/>
                <a:cs typeface="Times New Roman"/>
              </a:rPr>
              <a:t>, reducing manual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/>
                <a:cs typeface="Times New Roman"/>
              </a:rPr>
              <a:t>•Implements </a:t>
            </a:r>
            <a:r>
              <a:rPr lang="en-IN" dirty="0" err="1">
                <a:latin typeface="Times New Roman"/>
                <a:cs typeface="Times New Roman"/>
              </a:rPr>
              <a:t>GitOps</a:t>
            </a:r>
            <a:r>
              <a:rPr lang="en-IN">
                <a:latin typeface="Times New Roman"/>
                <a:cs typeface="Times New Roman"/>
              </a:rPr>
              <a:t>-based CI/CD via GitHub Actions.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/>
              <a:cs typeface="Times New Roman"/>
            </a:endParaRPr>
          </a:p>
          <a:p>
            <a:r>
              <a:rPr lang="en-IN">
                <a:latin typeface="Times New Roman"/>
                <a:cs typeface="Times New Roman"/>
              </a:rPr>
              <a:t>•Enables real-time monitoring and alerting through Prometheus and Grafana.</a:t>
            </a:r>
          </a:p>
          <a:p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cs typeface="Times New Roman"/>
              </a:rPr>
              <a:t>•Integrates multi-layer security with </a:t>
            </a:r>
            <a:r>
              <a:rPr lang="en-IN" err="1">
                <a:latin typeface="Times New Roman"/>
                <a:cs typeface="Times New Roman"/>
              </a:rPr>
              <a:t>Checkov</a:t>
            </a:r>
            <a:r>
              <a:rPr lang="en-IN" dirty="0">
                <a:latin typeface="Times New Roman"/>
                <a:cs typeface="Times New Roman"/>
              </a:rPr>
              <a:t>, </a:t>
            </a:r>
            <a:r>
              <a:rPr lang="en-IN" err="1">
                <a:latin typeface="Times New Roman"/>
                <a:cs typeface="Times New Roman"/>
              </a:rPr>
              <a:t>tfsec</a:t>
            </a:r>
            <a:r>
              <a:rPr lang="en-IN" dirty="0">
                <a:latin typeface="Times New Roman"/>
                <a:cs typeface="Times New Roman"/>
              </a:rPr>
              <a:t>, </a:t>
            </a:r>
            <a:r>
              <a:rPr lang="en-IN" err="1">
                <a:latin typeface="Times New Roman"/>
                <a:cs typeface="Times New Roman"/>
              </a:rPr>
              <a:t>Terrascan</a:t>
            </a:r>
            <a:r>
              <a:rPr lang="en-IN" dirty="0">
                <a:latin typeface="Times New Roman"/>
                <a:cs typeface="Times New Roman"/>
              </a:rPr>
              <a:t>, and OPA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validation and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1759" y="564782"/>
            <a:ext cx="3545517" cy="42319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1.6 </a:t>
            </a:r>
            <a:r>
              <a:rPr sz="3000" b="1" dirty="0">
                <a:solidFill>
                  <a:srgbClr val="000000"/>
                </a:solidFill>
                <a:latin typeface="Times New Roman"/>
                <a:cs typeface="Times New Roman"/>
              </a:rPr>
              <a:t>Technology</a:t>
            </a: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 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B979A-7614-59C1-2CEA-7FEF1B72E562}"/>
              </a:ext>
            </a:extLst>
          </p:cNvPr>
          <p:cNvSpPr txBox="1"/>
          <p:nvPr/>
        </p:nvSpPr>
        <p:spPr>
          <a:xfrm>
            <a:off x="539552" y="1347614"/>
            <a:ext cx="4572000" cy="3693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dirty="0">
                <a:latin typeface="Times New Roman"/>
                <a:cs typeface="Times New Roman"/>
              </a:rPr>
              <a:t>•</a:t>
            </a:r>
            <a:r>
              <a:rPr lang="en-IN" err="1">
                <a:latin typeface="Times New Roman"/>
                <a:cs typeface="Times New Roman"/>
              </a:rPr>
              <a:t>IaC</a:t>
            </a:r>
            <a:r>
              <a:rPr lang="en-IN" dirty="0">
                <a:latin typeface="Times New Roman"/>
                <a:cs typeface="Times New Roman"/>
              </a:rPr>
              <a:t>: Terraform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/>
                <a:cs typeface="Times New Roman"/>
              </a:rPr>
              <a:t>•Security Tools: </a:t>
            </a:r>
            <a:r>
              <a:rPr lang="en-IN" dirty="0" err="1">
                <a:latin typeface="Times New Roman"/>
                <a:cs typeface="Times New Roman"/>
              </a:rPr>
              <a:t>Checkov</a:t>
            </a:r>
            <a:r>
              <a:rPr lang="en-IN" dirty="0">
                <a:latin typeface="Times New Roman"/>
                <a:cs typeface="Times New Roman"/>
              </a:rPr>
              <a:t>, </a:t>
            </a:r>
            <a:r>
              <a:rPr lang="en-IN" dirty="0" err="1">
                <a:latin typeface="Times New Roman"/>
                <a:cs typeface="Times New Roman"/>
              </a:rPr>
              <a:t>tfsec</a:t>
            </a:r>
            <a:r>
              <a:rPr lang="en-IN" dirty="0">
                <a:latin typeface="Times New Roman"/>
                <a:cs typeface="Times New Roman"/>
              </a:rPr>
              <a:t>, </a:t>
            </a:r>
            <a:r>
              <a:rPr lang="en-IN">
                <a:latin typeface="Times New Roman"/>
                <a:cs typeface="Times New Roman"/>
              </a:rPr>
              <a:t>Terrascan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/>
                <a:cs typeface="Times New Roman"/>
              </a:rPr>
              <a:t>•CI/CD &amp; </a:t>
            </a:r>
            <a:r>
              <a:rPr lang="en-IN" err="1">
                <a:latin typeface="Times New Roman"/>
                <a:cs typeface="Times New Roman"/>
              </a:rPr>
              <a:t>GitOps</a:t>
            </a:r>
            <a:r>
              <a:rPr lang="en-IN">
                <a:latin typeface="Times New Roman"/>
                <a:cs typeface="Times New Roman"/>
              </a:rPr>
              <a:t>: GitHub Actions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•Containerization: Docker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•Monitoring: Prometheus, Grafana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/>
                <a:cs typeface="Times New Roman"/>
              </a:rPr>
              <a:t>•Language: Go</a:t>
            </a:r>
            <a:br>
              <a:rPr lang="en-IN" dirty="0">
                <a:latin typeface="Times New Roman"/>
                <a:cs typeface="Times New Roman"/>
              </a:rPr>
            </a:br>
            <a:endParaRPr lang="en-IN" dirty="0">
              <a:latin typeface="Times New Roman"/>
              <a:cs typeface="Times New Roman"/>
            </a:endParaRPr>
          </a:p>
          <a:p>
            <a:r>
              <a:rPr lang="en-IN">
                <a:latin typeface="Times New Roman"/>
                <a:cs typeface="Times New Roman"/>
              </a:rPr>
              <a:t>•AI Model: </a:t>
            </a:r>
            <a:r>
              <a:rPr lang="en-IN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Qwen2.5-coder:3b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536" y="339502"/>
            <a:ext cx="6449822" cy="42319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1.7 </a:t>
            </a:r>
            <a:r>
              <a:rPr sz="3000" b="1" dirty="0">
                <a:solidFill>
                  <a:srgbClr val="000000"/>
                </a:solidFill>
                <a:latin typeface="Times New Roman"/>
                <a:cs typeface="Times New Roman"/>
              </a:rPr>
              <a:t>Benefits</a:t>
            </a: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 for environment &amp; Society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B3C21-1C00-29E6-8D65-8A1D8507E391}"/>
              </a:ext>
            </a:extLst>
          </p:cNvPr>
          <p:cNvSpPr txBox="1"/>
          <p:nvPr/>
        </p:nvSpPr>
        <p:spPr>
          <a:xfrm>
            <a:off x="827584" y="1059582"/>
            <a:ext cx="70258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promotes sustainable cloud computing by reducing resource wastage through drift detection and anomaly monitoring. It enhances societal cybersecurity by enforcing secure infrastructure deployment before production. Additionally, it democratizes access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automation for students and small organizations, contributing to inclusive innovation aligned with SDG 9.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0477B-CD64-C654-60D6-7D7CD8910331}"/>
              </a:ext>
            </a:extLst>
          </p:cNvPr>
          <p:cNvSpPr txBox="1"/>
          <p:nvPr/>
        </p:nvSpPr>
        <p:spPr>
          <a:xfrm>
            <a:off x="827584" y="3073961"/>
            <a:ext cx="5832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stable digital service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banking,education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health apps, e-commerce).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99F9B7-67ED-42B2-6BCA-E2510B416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150931C-B833-FAA3-D8CA-45D23A81614C}"/>
              </a:ext>
            </a:extLst>
          </p:cNvPr>
          <p:cNvSpPr txBox="1"/>
          <p:nvPr/>
        </p:nvSpPr>
        <p:spPr>
          <a:xfrm>
            <a:off x="401759" y="564782"/>
            <a:ext cx="6449822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defRPr/>
            </a:pPr>
            <a:r>
              <a:rPr lang="en-I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SDG Mapped with Contribution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16033-19D2-D4D2-8241-F83D708565CB}"/>
              </a:ext>
            </a:extLst>
          </p:cNvPr>
          <p:cNvSpPr txBox="1"/>
          <p:nvPr/>
        </p:nvSpPr>
        <p:spPr>
          <a:xfrm>
            <a:off x="827584" y="1203598"/>
            <a:ext cx="7200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aligns with the United Nations’ Sustainable Development Goal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(SDG) 9: Industry, Innovation, and Infrastructure.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contributes to digital transformation by promoting innovation in the field of secure infrastructure automation. It helps build sustainable, reliable,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costefficient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solutions that support industrial growth and technological advancement. By making such tools accessible to students, developers, and startups,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to building robust digital infrastructure that encourages innovation and inclusive development.</a:t>
            </a:r>
          </a:p>
        </p:txBody>
      </p:sp>
    </p:spTree>
    <p:extLst>
      <p:ext uri="{BB962C8B-B14F-4D97-AF65-F5344CB8AC3E}">
        <p14:creationId xmlns:p14="http://schemas.microsoft.com/office/powerpoint/2010/main" val="908230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9436" y="2723535"/>
            <a:ext cx="4013332" cy="628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51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2. Project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1759" y="564782"/>
            <a:ext cx="3503297" cy="42319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Times New Roman"/>
                <a:cs typeface="Times New Roman"/>
              </a:rPr>
              <a:t>2.1 Proposed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16ECD-C0DF-BEBE-7FEB-8B96FA672D76}"/>
              </a:ext>
            </a:extLst>
          </p:cNvPr>
          <p:cNvSpPr txBox="1"/>
          <p:nvPr/>
        </p:nvSpPr>
        <p:spPr>
          <a:xfrm>
            <a:off x="611560" y="1131590"/>
            <a:ext cx="7560840" cy="3693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err="1">
                <a:latin typeface="Times New Roman"/>
                <a:cs typeface="Times New Roman"/>
              </a:rPr>
              <a:t>InfraSage</a:t>
            </a:r>
            <a:r>
              <a:rPr lang="en-IN" dirty="0">
                <a:latin typeface="Times New Roman"/>
                <a:cs typeface="Times New Roman"/>
              </a:rPr>
              <a:t> proposes an integrated AI-native </a:t>
            </a:r>
            <a:r>
              <a:rPr lang="en-IN" err="1">
                <a:latin typeface="Times New Roman"/>
                <a:cs typeface="Times New Roman"/>
              </a:rPr>
              <a:t>DevSecOps</a:t>
            </a:r>
            <a:r>
              <a:rPr lang="en-IN" dirty="0">
                <a:latin typeface="Times New Roman"/>
                <a:cs typeface="Times New Roman"/>
              </a:rPr>
              <a:t> solution that: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Translates natural language prompts into validated, secure Terraform code.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Embeds multi-layer security scanning across the CI/CD pipeline.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/>
                <a:cs typeface="Times New Roman"/>
              </a:rPr>
              <a:t>• Implements </a:t>
            </a:r>
            <a:r>
              <a:rPr lang="en-IN" err="1">
                <a:latin typeface="Times New Roman"/>
                <a:cs typeface="Times New Roman"/>
              </a:rPr>
              <a:t>GitOps</a:t>
            </a:r>
            <a:r>
              <a:rPr lang="en-IN">
                <a:latin typeface="Times New Roman"/>
                <a:cs typeface="Times New Roman"/>
              </a:rPr>
              <a:t> for compliant, auditable </a:t>
            </a:r>
            <a:r>
              <a:rPr lang="en-IN" dirty="0">
                <a:latin typeface="Times New Roman"/>
                <a:cs typeface="Times New Roman"/>
              </a:rPr>
              <a:t>deployment flows.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/>
                <a:cs typeface="Times New Roman"/>
              </a:rPr>
              <a:t>• </a:t>
            </a:r>
            <a:r>
              <a:rPr lang="en-IN">
                <a:latin typeface="Times New Roman"/>
                <a:ea typeface="+mn-lt"/>
                <a:cs typeface="Times New Roman"/>
              </a:rPr>
              <a:t>It unifies generation, verification, deployment orchestration, and observability into a single framework for consistent and auditable IaC delivery. </a:t>
            </a:r>
          </a:p>
          <a:p>
            <a:endParaRPr lang="en-IN" dirty="0">
              <a:latin typeface="Times New Roman"/>
              <a:ea typeface="+mn-lt"/>
              <a:cs typeface="Times New Roman"/>
            </a:endParaRPr>
          </a:p>
          <a:p>
            <a:r>
              <a:rPr lang="en-IN">
                <a:latin typeface="Times New Roman"/>
                <a:cs typeface="Times New Roman"/>
              </a:rPr>
              <a:t>• </a:t>
            </a:r>
            <a:r>
              <a:rPr lang="en-IN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It uses an open-source AI model running locally for secure and controlled infrastructure code generation.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20538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4782"/>
            <a:ext cx="4887217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2.2 Design(</a:t>
            </a:r>
            <a:r>
              <a:rPr lang="en-IN"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UML Diagram</a:t>
            </a: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3CA4E-7F53-D9C5-C7C2-66D802665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661" y="1288569"/>
            <a:ext cx="5290677" cy="33750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-20538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5536" y="282391"/>
            <a:ext cx="4685988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2.3 Description Of Use 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262C9-09FE-8D84-0F0E-15A31EEFD7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742419"/>
            <a:ext cx="6336704" cy="42055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7544" y="282391"/>
            <a:ext cx="3481454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2.4 Activity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3C70B-97DE-DBB0-2C1A-5C2EF526E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742418"/>
            <a:ext cx="6552728" cy="41186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9552" y="335781"/>
            <a:ext cx="3122933" cy="46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QHJKMV+TimesNewRomanPS-BoldMT"/>
                <a:cs typeface="QHJKMV+TimesNewRomanPS-BoldMT"/>
              </a:rPr>
              <a:t>2.5 Class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90300-483D-43C9-A906-07B8D402F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48" y="843558"/>
            <a:ext cx="8136904" cy="38154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9360" y="2798433"/>
            <a:ext cx="4680982" cy="634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3. Implementation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61CA53-4EB9-F2E5-B2A4-9D009D027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03" y="544403"/>
            <a:ext cx="8544394" cy="369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91967B-794A-70F2-7FBB-A6E3302B0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47" y="150962"/>
            <a:ext cx="7975938" cy="475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58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83BFE6-E751-7F4F-95C1-A3C637A0B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69" y="229537"/>
            <a:ext cx="7950062" cy="468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02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B24641-69F0-55BF-8402-327489159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43" y="196746"/>
            <a:ext cx="6355115" cy="475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60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5ACA91-5011-18BD-6CA4-DC2434ABB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61" y="212210"/>
            <a:ext cx="8628714" cy="471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27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B08F8A-5A41-0918-B3C0-76952B354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00" y="226414"/>
            <a:ext cx="8422599" cy="46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73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9F3E0B-6D18-4854-E17B-5E5B7C2B6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7" y="177950"/>
            <a:ext cx="8239906" cy="478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505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442AA31-0033-E355-A5DD-2D0B6805C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0233999-A532-476C-E177-C2BD7EE9D597}"/>
              </a:ext>
            </a:extLst>
          </p:cNvPr>
          <p:cNvSpPr txBox="1"/>
          <p:nvPr/>
        </p:nvSpPr>
        <p:spPr>
          <a:xfrm>
            <a:off x="395536" y="195486"/>
            <a:ext cx="8130681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defRPr/>
            </a:pPr>
            <a:r>
              <a:rPr lang="en-US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Cost Estimation using COCOMO-II Model</a:t>
            </a:r>
            <a:endParaRPr lang="en-I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1AD783-D0D3-CC8C-E904-CDD822950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302653"/>
              </p:ext>
            </p:extLst>
          </p:nvPr>
        </p:nvGraphicFramePr>
        <p:xfrm>
          <a:off x="1256520" y="771550"/>
          <a:ext cx="6915880" cy="39985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5289">
                  <a:extLst>
                    <a:ext uri="{9D8B030D-6E8A-4147-A177-3AD203B41FA5}">
                      <a16:colId xmlns:a16="http://schemas.microsoft.com/office/drawing/2014/main" val="1958026025"/>
                    </a:ext>
                  </a:extLst>
                </a:gridCol>
                <a:gridCol w="2805701">
                  <a:extLst>
                    <a:ext uri="{9D8B030D-6E8A-4147-A177-3AD203B41FA5}">
                      <a16:colId xmlns:a16="http://schemas.microsoft.com/office/drawing/2014/main" val="1637370412"/>
                    </a:ext>
                  </a:extLst>
                </a:gridCol>
                <a:gridCol w="1730754">
                  <a:extLst>
                    <a:ext uri="{9D8B030D-6E8A-4147-A177-3AD203B41FA5}">
                      <a16:colId xmlns:a16="http://schemas.microsoft.com/office/drawing/2014/main" val="1519904858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658256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No.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Cost Component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Calculation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Amount(Rs)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529429"/>
                  </a:ext>
                </a:extLst>
              </a:tr>
              <a:tr h="71611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[1]</a:t>
                      </a:r>
                      <a:endParaRPr lang="en-IN" sz="1200" dirty="0"/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Paid Software Costing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098534"/>
                  </a:ext>
                </a:extLst>
              </a:tr>
              <a:tr h="744453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[2]</a:t>
                      </a:r>
                      <a:endParaRPr lang="en-IN" sz="1200" dirty="0"/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Developer Cost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 × 30,000 ×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2,40,000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669375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[3]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System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4×55,000 = 2,20,000 → 25% = 55,000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55,000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994731"/>
                  </a:ext>
                </a:extLst>
              </a:tr>
              <a:tr h="7052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Additional H/W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48808"/>
                  </a:ext>
                </a:extLst>
              </a:tr>
              <a:tr h="7052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+mn-lt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Miscellaneous Costs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10,000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049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298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2639" y="2719593"/>
            <a:ext cx="2638415" cy="634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4. Testing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33973E5-BB50-9C05-8F3D-BB4E2BD7B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461665"/>
          </a:xfrm>
        </p:spPr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Testing: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3F609-F072-7EB7-3D45-FB2DDCD326C0}"/>
              </a:ext>
            </a:extLst>
          </p:cNvPr>
          <p:cNvSpPr txBox="1"/>
          <p:nvPr/>
        </p:nvSpPr>
        <p:spPr>
          <a:xfrm>
            <a:off x="755576" y="1203598"/>
            <a:ext cx="73448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ensures that each component of the Natural Language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Automation System performs correctly, integrates smoothly, and meets both functional and non-functional requirements.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testing process was divided into unit testing, integration testing, system testing, and user acceptance testing (UAT)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411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2639" y="2719593"/>
            <a:ext cx="2372465" cy="634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5. Result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12D8F-B2C2-6A9C-CEF0-53D5FC177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461665"/>
          </a:xfrm>
        </p:spPr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 Result: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1D6118-EEC2-7955-9C6C-7E24CA8E8570}"/>
              </a:ext>
            </a:extLst>
          </p:cNvPr>
          <p:cNvSpPr txBox="1"/>
          <p:nvPr/>
        </p:nvSpPr>
        <p:spPr>
          <a:xfrm>
            <a:off x="827584" y="1141053"/>
            <a:ext cx="7128792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The developed system successfully demonstrates the conversion of natural language (NL) prompts into Terraform-based Infrastructure-as-Code (</a:t>
            </a:r>
            <a:r>
              <a:rPr lang="en-US" err="1">
                <a:latin typeface="Times New Roman"/>
                <a:cs typeface="Times New Roman"/>
              </a:rPr>
              <a:t>IaC</a:t>
            </a:r>
            <a:r>
              <a:rPr lang="en-US" dirty="0">
                <a:latin typeface="Times New Roman"/>
                <a:cs typeface="Times New Roman"/>
              </a:rPr>
              <a:t>) configurations, followed by automated validation and deployment through a </a:t>
            </a:r>
            <a:r>
              <a:rPr lang="en-US" err="1">
                <a:latin typeface="Times New Roman"/>
                <a:cs typeface="Times New Roman"/>
              </a:rPr>
              <a:t>GitOps</a:t>
            </a:r>
            <a:r>
              <a:rPr lang="en-US" dirty="0">
                <a:latin typeface="Times New Roman"/>
                <a:cs typeface="Times New Roman"/>
              </a:rPr>
              <a:t> CI/CD workflow.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cs typeface="Times New Roman"/>
              </a:rPr>
              <a:t>All components from prompt parsing to monitoring functioned </a:t>
            </a:r>
            <a:r>
              <a:rPr lang="en-US" dirty="0">
                <a:latin typeface="Times New Roman"/>
                <a:cs typeface="Times New Roman"/>
              </a:rPr>
              <a:t>cohesively to achieve the intended automation and governance objectives.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5518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2639" y="2079513"/>
            <a:ext cx="6542892" cy="12740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2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6. Conclusion and Future</a:t>
            </a:r>
          </a:p>
          <a:p>
            <a:pPr marL="0" marR="0">
              <a:lnSpc>
                <a:spcPts val="4692"/>
              </a:lnSpc>
              <a:spcBef>
                <a:spcPts val="347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CRAJMG+Arial-BoldMT"/>
                <a:cs typeface="CRAJMG+Arial-BoldMT"/>
              </a:rPr>
              <a:t>Scope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DDBF-437F-BD76-E133-8DB76746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267494"/>
            <a:ext cx="6797992" cy="461665"/>
          </a:xfrm>
        </p:spPr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FDD68-D3FB-14BC-D40D-81418A12E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3608" y="915566"/>
            <a:ext cx="6797992" cy="3877985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>
                <a:latin typeface="Times New Roman"/>
                <a:ea typeface="+mn-lt"/>
                <a:cs typeface="Times New Roman"/>
              </a:rPr>
              <a:t>InfraSage demonstrates how an AI-driven framework can simplify and secure the complete Infrastructure as Code lifecycle by unifying generation, validation, remediation, deployment, and monitoring into one coherent workflow. By combining a local open-source model, automated multi-scanner security checks, CI/CD integration, and observability, the framework improves delivery speed, consistency, and governance while reducing manual effort and operational risk.</a:t>
            </a:r>
          </a:p>
          <a:p>
            <a:pPr algn="l"/>
            <a:endParaRPr lang="en-US"/>
          </a:p>
          <a:p>
            <a:pPr algn="l"/>
            <a:endParaRPr lang="en-US"/>
          </a:p>
          <a:p>
            <a:pPr algn="l"/>
            <a:endParaRPr lang="en-US"/>
          </a:p>
          <a:p>
            <a:pPr algn="l"/>
            <a:endParaRPr lang="en-US"/>
          </a:p>
          <a:p>
            <a:pPr algn="l"/>
            <a:br>
              <a:rPr lang="en-US" dirty="0"/>
            </a:br>
            <a:endParaRPr lang="en-US" dirty="0"/>
          </a:p>
          <a:p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110703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536" y="123478"/>
            <a:ext cx="1929221" cy="42319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>
              <a:lnSpc>
                <a:spcPts val="3322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00"/>
                </a:solidFill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2F67C-1A1F-F353-23EA-005C53C46E64}"/>
              </a:ext>
            </a:extLst>
          </p:cNvPr>
          <p:cNvSpPr txBox="1"/>
          <p:nvPr/>
        </p:nvSpPr>
        <p:spPr>
          <a:xfrm>
            <a:off x="395536" y="483518"/>
            <a:ext cx="8395598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dirty="0">
                <a:latin typeface="Times New Roman"/>
                <a:cs typeface="Times New Roman"/>
              </a:rPr>
              <a:t>[1] S. K. Chinnam, “AI-Augmented </a:t>
            </a:r>
            <a:r>
              <a:rPr lang="en-IN" err="1">
                <a:latin typeface="Times New Roman"/>
                <a:cs typeface="Times New Roman"/>
              </a:rPr>
              <a:t>DevSecOps</a:t>
            </a:r>
            <a:r>
              <a:rPr lang="en-IN" dirty="0">
                <a:latin typeface="Times New Roman"/>
                <a:cs typeface="Times New Roman"/>
              </a:rPr>
              <a:t>: Automating Threat Detection and Compliance in Cloud-Native Pipelines Using Telemetry and Policy-as-Code,” </a:t>
            </a:r>
            <a:r>
              <a:rPr lang="en-IN" i="1">
                <a:latin typeface="Times New Roman"/>
                <a:cs typeface="Times New Roman"/>
              </a:rPr>
              <a:t>International Journal of Computer Engineering and Technology (IJCET), </a:t>
            </a:r>
            <a:r>
              <a:rPr lang="en-IN" dirty="0">
                <a:latin typeface="Times New Roman"/>
                <a:cs typeface="Times New Roman"/>
              </a:rPr>
              <a:t>Vol. 15, No. 1, </a:t>
            </a:r>
            <a:r>
              <a:rPr lang="en-IN">
                <a:latin typeface="Times New Roman"/>
                <a:cs typeface="Times New Roman"/>
              </a:rPr>
              <a:t>Jan–Feb 2024.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cs typeface="Times New Roman"/>
              </a:rPr>
              <a:t>[2] K. Ganesh Srivatsa, S. Mukhopadhyay, G. </a:t>
            </a:r>
            <a:r>
              <a:rPr lang="en-IN" dirty="0" err="1">
                <a:latin typeface="Times New Roman"/>
                <a:cs typeface="Times New Roman"/>
              </a:rPr>
              <a:t>Katrapati</a:t>
            </a:r>
            <a:r>
              <a:rPr lang="en-IN" dirty="0">
                <a:latin typeface="Times New Roman"/>
                <a:cs typeface="Times New Roman"/>
              </a:rPr>
              <a:t>, and M. Shrivastava, “</a:t>
            </a:r>
            <a:r>
              <a:rPr lang="en-IN" i="1" dirty="0">
                <a:latin typeface="Times New Roman"/>
                <a:cs typeface="Times New Roman"/>
              </a:rPr>
              <a:t>A Survey of Using Large Language Models for Generating Infrastructure as Code,</a:t>
            </a:r>
            <a:r>
              <a:rPr lang="en-IN" dirty="0">
                <a:latin typeface="Times New Roman"/>
                <a:cs typeface="Times New Roman"/>
              </a:rPr>
              <a:t>” </a:t>
            </a:r>
            <a:r>
              <a:rPr lang="en-IN" dirty="0" err="1">
                <a:latin typeface="Times New Roman"/>
                <a:cs typeface="Times New Roman"/>
              </a:rPr>
              <a:t>arXiv</a:t>
            </a:r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cs typeface="Times New Roman"/>
              </a:rPr>
              <a:t>preprint, March 2024.</a:t>
            </a:r>
          </a:p>
          <a:p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cs typeface="Times New Roman"/>
              </a:rPr>
              <a:t>[3] X. Yu, H. Xu, and Z. Wu, “</a:t>
            </a:r>
            <a:r>
              <a:rPr lang="en-IN" i="1" dirty="0">
                <a:latin typeface="Times New Roman"/>
                <a:cs typeface="Times New Roman"/>
              </a:rPr>
              <a:t>Research on the Integration Technology of Complex </a:t>
            </a:r>
            <a:r>
              <a:rPr lang="en-IN" i="1" dirty="0" err="1">
                <a:latin typeface="Times New Roman"/>
                <a:cs typeface="Times New Roman"/>
              </a:rPr>
              <a:t>MultiSchedule</a:t>
            </a:r>
            <a:r>
              <a:rPr lang="en-IN" i="1" dirty="0">
                <a:latin typeface="Times New Roman"/>
                <a:cs typeface="Times New Roman"/>
              </a:rPr>
              <a:t> Scheduling: A Case Study of Exam Scheduling in Colleges,</a:t>
            </a:r>
            <a:r>
              <a:rPr lang="en-IN" dirty="0">
                <a:latin typeface="Times New Roman"/>
                <a:cs typeface="Times New Roman"/>
              </a:rPr>
              <a:t>” 2024.</a:t>
            </a:r>
          </a:p>
          <a:p>
            <a:endParaRPr lang="en-IN" dirty="0">
              <a:latin typeface="Times New Roman"/>
              <a:cs typeface="Times New Roman"/>
            </a:endParaRPr>
          </a:p>
          <a:p>
            <a:r>
              <a:rPr lang="en-IN">
                <a:latin typeface="Times New Roman"/>
                <a:cs typeface="Times New Roman"/>
              </a:rPr>
              <a:t>[4] S. Rao, P. Mehta, and R. Deshmukh, “</a:t>
            </a:r>
            <a:r>
              <a:rPr lang="en-IN" i="1" dirty="0" err="1">
                <a:latin typeface="Times New Roman"/>
                <a:cs typeface="Times New Roman"/>
              </a:rPr>
              <a:t>DevSecOps</a:t>
            </a:r>
            <a:r>
              <a:rPr lang="en-IN" i="1" dirty="0">
                <a:latin typeface="Times New Roman"/>
                <a:cs typeface="Times New Roman"/>
              </a:rPr>
              <a:t> Automation for Secure Cloud Infrastructure</a:t>
            </a:r>
            <a:r>
              <a:rPr lang="en-IN" dirty="0">
                <a:latin typeface="Times New Roman"/>
                <a:cs typeface="Times New Roman"/>
              </a:rPr>
              <a:t>,” International Journal of Advanced Research in Computer Science, 2023.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FEA1-7EC8-9C3A-AA61-83E6B1A41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707886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>
                <a:latin typeface="Times New Roman"/>
                <a:ea typeface="+mj-lt"/>
                <a:cs typeface="Times New Roman"/>
              </a:rPr>
              <a:t>FUTURE SCOPE</a:t>
            </a:r>
            <a:endParaRPr lang="en-US" sz="2800" b="1" dirty="0">
              <a:latin typeface="Times New Roman"/>
              <a:ea typeface="+mj-lt"/>
              <a:cs typeface="Times New Roman"/>
            </a:endParaRP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B85EC-FAE9-3CD0-5695-4E1CC74BA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666" y="1014557"/>
            <a:ext cx="6797992" cy="3877985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dirty="0">
                <a:latin typeface="Times New Roman"/>
                <a:ea typeface="+mn-lt"/>
                <a:cs typeface="Times New Roman"/>
              </a:rPr>
              <a:t>1. Add multi-cloud support beyond AWS (Azure and GCP modules), so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InfraSage</a:t>
            </a:r>
            <a:r>
              <a:rPr lang="en-US" dirty="0">
                <a:latin typeface="Times New Roman"/>
                <a:ea typeface="+mn-lt"/>
                <a:cs typeface="Times New Roman"/>
              </a:rPr>
              <a:t> can generate, scan, and deploy provider-specific Terraform from one prompt.</a:t>
            </a:r>
            <a:endParaRPr lang="en-US">
              <a:latin typeface="Times New Roman"/>
              <a:cs typeface="Times New Roman"/>
            </a:endParaRPr>
          </a:p>
          <a:p>
            <a:pPr algn="l"/>
            <a:endParaRPr lang="en-US" dirty="0">
              <a:latin typeface="Times New Roman"/>
              <a:cs typeface="Times New Roman"/>
            </a:endParaRPr>
          </a:p>
          <a:p>
            <a:pPr algn="l"/>
            <a:r>
              <a:rPr lang="en-US">
                <a:latin typeface="Times New Roman"/>
                <a:ea typeface="+mn-lt"/>
                <a:cs typeface="Times New Roman"/>
              </a:rPr>
              <a:t>2. Improve AI quality with policy-aware generation, where outputs are automatically aligned to organization guardrails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algn="l"/>
            <a:endParaRPr lang="en-US" dirty="0">
              <a:latin typeface="Times New Roman"/>
              <a:ea typeface="+mn-lt"/>
              <a:cs typeface="Times New Roman"/>
            </a:endParaRPr>
          </a:p>
          <a:p>
            <a:pPr algn="l"/>
            <a:r>
              <a:rPr lang="en-US">
                <a:latin typeface="Times New Roman"/>
                <a:ea typeface="+mn-lt"/>
                <a:cs typeface="Times New Roman"/>
              </a:rPr>
              <a:t>3. Introduce autonomous remediation workflows that not only detect drift/vulnerabilities but also open fix branches, generate patches, and create approval-ready pull requests.</a:t>
            </a:r>
            <a:endParaRPr lang="en-US">
              <a:latin typeface="Times New Roman"/>
              <a:cs typeface="Times New Roman"/>
            </a:endParaRPr>
          </a:p>
          <a:p>
            <a:pPr algn="l"/>
            <a:endParaRPr lang="en-US" dirty="0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4. Build enterprise governance features such as role-based access control, audit trails, compliance dashboards, and approval gates for production-grade team adoption.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3928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759" y="561966"/>
            <a:ext cx="3134798" cy="463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JLPAIK+ArialMT"/>
                <a:cs typeface="JLPAIK+ArialMT"/>
              </a:rPr>
              <a:t>Paper Publication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03991" y="2723535"/>
            <a:ext cx="2744856" cy="628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51"/>
              </a:lnSpc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BF0"/>
                </a:solidFill>
                <a:latin typeface="QHJKMV+TimesNewRomanPS-BoldMT"/>
                <a:cs typeface="QHJKMV+TimesNewRomanPS-BoldM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</TotalTime>
  <Words>1409</Words>
  <Application>Microsoft Office PowerPoint</Application>
  <PresentationFormat>On-screen Show (16:9)</PresentationFormat>
  <Paragraphs>191</Paragraphs>
  <Slides>36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4.1 Testing:</vt:lpstr>
      <vt:lpstr>PowerPoint Presentation</vt:lpstr>
      <vt:lpstr>5.1 Result:</vt:lpstr>
      <vt:lpstr>PowerPoint Presentation</vt:lpstr>
      <vt:lpstr>6.1 Conclusion</vt:lpstr>
      <vt:lpstr>PowerPoint Presentation</vt:lpstr>
      <vt:lpstr>FUTURE SCOPE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Pranav Patil</dc:creator>
  <cp:lastModifiedBy>Pranav Patil</cp:lastModifiedBy>
  <cp:revision>126</cp:revision>
  <dcterms:modified xsi:type="dcterms:W3CDTF">2026-04-08T06:55:53Z</dcterms:modified>
</cp:coreProperties>
</file>