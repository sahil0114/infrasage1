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1" r:id="rId20"/>
    <p:sldId id="279" r:id="rId21"/>
    <p:sldId id="273" r:id="rId22"/>
    <p:sldId id="282" r:id="rId23"/>
    <p:sldId id="274" r:id="rId24"/>
    <p:sldId id="283" r:id="rId25"/>
    <p:sldId id="275" r:id="rId26"/>
    <p:sldId id="284" r:id="rId27"/>
    <p:sldId id="276" r:id="rId28"/>
    <p:sldId id="277" r:id="rId29"/>
    <p:sldId id="278" r:id="rId30"/>
  </p:sldIdLst>
  <p:sldSz cx="9144000" cy="5143500" type="screen16x9"/>
  <p:notesSz cx="9144000" cy="5143500"/>
  <p:embeddedFontLst>
    <p:embeddedFont>
      <p:font typeface="CRAJMG+Arial-BoldMT" panose="020B0604020202020204"/>
      <p:regular r:id="rId32"/>
    </p:embeddedFont>
    <p:embeddedFont>
      <p:font typeface="JLPAIK+ArialMT" panose="020B0604020202020204"/>
      <p:regular r:id="rId33"/>
    </p:embeddedFont>
    <p:embeddedFont>
      <p:font typeface="KOLMNO+TimesNewRomanPSMT" panose="020B0604020202020204"/>
      <p:regular r:id="rId34"/>
    </p:embeddedFont>
    <p:embeddedFont>
      <p:font typeface="QHJKMV+TimesNewRomanPS-BoldMT" panose="020B0604020202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8" autoAdjust="0"/>
  </p:normalViewPr>
  <p:slideViewPr>
    <p:cSldViewPr>
      <p:cViewPr varScale="1">
        <p:scale>
          <a:sx n="103" d="100"/>
          <a:sy n="103" d="100"/>
        </p:scale>
        <p:origin x="874" y="-109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v Patil" userId="7e32fe646e6d6d3e" providerId="LiveId" clId="{2EEDE841-0EEB-44E4-88B0-45A64E46B5AD}"/>
    <pc:docChg chg="modSld">
      <pc:chgData name="Pranav Patil" userId="7e32fe646e6d6d3e" providerId="LiveId" clId="{2EEDE841-0EEB-44E4-88B0-45A64E46B5AD}" dt="2026-03-02T08:10:56.112" v="0" actId="790"/>
      <pc:docMkLst>
        <pc:docMk/>
      </pc:docMkLst>
      <pc:sldChg chg="modSp mod">
        <pc:chgData name="Pranav Patil" userId="7e32fe646e6d6d3e" providerId="LiveId" clId="{2EEDE841-0EEB-44E4-88B0-45A64E46B5AD}" dt="2026-03-02T08:10:56.112" v="0" actId="790"/>
        <pc:sldMkLst>
          <pc:docMk/>
          <pc:sldMk cId="26933845" sldId="281"/>
        </pc:sldMkLst>
        <pc:spChg chg="mod">
          <ac:chgData name="Pranav Patil" userId="7e32fe646e6d6d3e" providerId="LiveId" clId="{2EEDE841-0EEB-44E4-88B0-45A64E46B5AD}" dt="2026-03-02T08:10:56.112" v="0" actId="790"/>
          <ac:spMkLst>
            <pc:docMk/>
            <pc:sldMk cId="26933845" sldId="281"/>
            <ac:spMk id="2" creationId="{E23FBC5C-9DCD-DCD9-F444-5C58564A48D2}"/>
          </ac:spMkLst>
        </pc:spChg>
        <pc:spChg chg="mod">
          <ac:chgData name="Pranav Patil" userId="7e32fe646e6d6d3e" providerId="LiveId" clId="{2EEDE841-0EEB-44E4-88B0-45A64E46B5AD}" dt="2026-03-02T08:10:56.112" v="0" actId="790"/>
          <ac:spMkLst>
            <pc:docMk/>
            <pc:sldMk cId="26933845" sldId="281"/>
            <ac:spMk id="3" creationId="{242D144D-203F-926E-DE94-F3D54544740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85475-0855-4030-9D82-DD75ED94516A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D58EF-37B4-4163-9110-6D9E0335E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30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D58EF-37B4-4163-9110-6D9E0335E19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199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34175" y="2270986"/>
            <a:ext cx="6589140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Department of Information Technology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11087" y="2728186"/>
            <a:ext cx="6803566" cy="1558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91213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NBA Accredited</a:t>
            </a:r>
          </a:p>
          <a:p>
            <a:pPr marL="1274355" marR="0">
              <a:lnSpc>
                <a:spcPts val="2657"/>
              </a:lnSpc>
              <a:spcBef>
                <a:spcPts val="233"/>
              </a:spcBef>
              <a:spcAft>
                <a:spcPts val="0"/>
              </a:spcAft>
            </a:pP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A.P. Shah Institute of Technology</a:t>
            </a:r>
          </a:p>
          <a:p>
            <a:pPr marL="0" marR="0">
              <a:lnSpc>
                <a:spcPts val="2657"/>
              </a:lnSpc>
              <a:spcBef>
                <a:spcPts val="222"/>
              </a:spcBef>
              <a:spcAft>
                <a:spcPts val="0"/>
              </a:spcAft>
            </a:pP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G.B.Road, Kasarvadavli, Thane (W), Mumbai-400615</a:t>
            </a:r>
          </a:p>
          <a:p>
            <a:pPr marL="1496028" marR="0">
              <a:lnSpc>
                <a:spcPts val="2657"/>
              </a:lnSpc>
              <a:spcBef>
                <a:spcPts val="222"/>
              </a:spcBef>
              <a:spcAft>
                <a:spcPts val="0"/>
              </a:spcAft>
            </a:pP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UNIVERSITY OF MUMBAI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4329" y="4276990"/>
            <a:ext cx="3448151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Academic Year 202</a:t>
            </a:r>
            <a:r>
              <a:rPr lang="en-US"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5</a:t>
            </a: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-202</a:t>
            </a:r>
            <a:r>
              <a:rPr lang="en-US"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6</a:t>
            </a:r>
            <a:endParaRPr sz="2400" dirty="0">
              <a:solidFill>
                <a:srgbClr val="FFFBF0"/>
              </a:solidFill>
              <a:latin typeface="KOLMNO+TimesNewRomanPSMT"/>
              <a:cs typeface="KOLMNO+TimesNewRomanPS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01651" y="108469"/>
            <a:ext cx="247988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A Project</a:t>
            </a:r>
            <a:r>
              <a:rPr sz="1800" spc="-93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 </a:t>
            </a: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Presentation</a:t>
            </a:r>
            <a:r>
              <a:rPr sz="1800" spc="1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 </a:t>
            </a: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99875" y="388466"/>
            <a:ext cx="4490390" cy="133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993"/>
              </a:lnSpc>
              <a:spcBef>
                <a:spcPts val="127"/>
              </a:spcBef>
            </a:pPr>
            <a:r>
              <a:rPr lang="en-US" b="1" dirty="0" err="1"/>
              <a:t>Infrasage</a:t>
            </a:r>
            <a:r>
              <a:rPr lang="en-US" b="1" dirty="0"/>
              <a:t> – AI-Augmented </a:t>
            </a:r>
            <a:r>
              <a:rPr lang="en-US" b="1" dirty="0" err="1"/>
              <a:t>DevSecOps</a:t>
            </a:r>
            <a:r>
              <a:rPr lang="en-US" b="1" dirty="0"/>
              <a:t> with Natural Language </a:t>
            </a:r>
            <a:r>
              <a:rPr lang="en-US" b="1" dirty="0" err="1"/>
              <a:t>Iac</a:t>
            </a:r>
            <a:r>
              <a:rPr lang="en-US" b="1" dirty="0"/>
              <a:t> and Drift resilient CI/CD</a:t>
            </a:r>
          </a:p>
          <a:p>
            <a:pPr>
              <a:lnSpc>
                <a:spcPts val="1993"/>
              </a:lnSpc>
              <a:spcBef>
                <a:spcPts val="127"/>
              </a:spcBef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Submitted in partial fulfillment of the degree of</a:t>
            </a:r>
          </a:p>
          <a:p>
            <a:pPr marL="675068" marR="0">
              <a:lnSpc>
                <a:spcPts val="1993"/>
              </a:lnSpc>
              <a:spcBef>
                <a:spcPts val="16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Bachelor of Engineering(Sem-8)</a:t>
            </a:r>
          </a:p>
          <a:p>
            <a:pPr marL="2082990" marR="0">
              <a:lnSpc>
                <a:spcPts val="1993"/>
              </a:lnSpc>
              <a:spcBef>
                <a:spcPts val="116"/>
              </a:spcBef>
              <a:spcAft>
                <a:spcPts val="0"/>
              </a:spcAft>
            </a:pPr>
            <a:r>
              <a:rPr lang="en-IN"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I</a:t>
            </a: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n</a:t>
            </a:r>
            <a:endParaRPr lang="en-IN" sz="1800" dirty="0">
              <a:solidFill>
                <a:srgbClr val="000000"/>
              </a:solidFill>
              <a:latin typeface="KOLMNO+TimesNewRomanPSMT"/>
              <a:cs typeface="KOLMNO+TimesNewRomanPS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7824" y="1638369"/>
            <a:ext cx="3569856" cy="565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INFORMATION TECHNOLOGY</a:t>
            </a:r>
          </a:p>
          <a:p>
            <a:pPr marL="1568221" marR="0">
              <a:lnSpc>
                <a:spcPts val="1993"/>
              </a:lnSpc>
              <a:spcBef>
                <a:spcPts val="16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By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77081" y="2127387"/>
            <a:ext cx="2908758" cy="13465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93"/>
              </a:lnSpc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Sahil Gada (23204019)</a:t>
            </a:r>
            <a:endParaRPr sz="18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LMNO+TimesNewRomanPSMT"/>
              <a:cs typeface="KOLMNO+TimesNewRomanPSMT"/>
            </a:endParaRPr>
          </a:p>
          <a:p>
            <a:pPr>
              <a:lnSpc>
                <a:spcPts val="1993"/>
              </a:lnSpc>
              <a:spcBef>
                <a:spcPts val="166"/>
              </a:spcBef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Swayam Shah (23204005)</a:t>
            </a:r>
            <a:endParaRPr sz="18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LMNO+TimesNewRomanPSMT"/>
              <a:cs typeface="KOLMNO+TimesNewRomanPSMT"/>
            </a:endParaRPr>
          </a:p>
          <a:p>
            <a:pPr>
              <a:lnSpc>
                <a:spcPts val="1993"/>
              </a:lnSpc>
              <a:spcBef>
                <a:spcPts val="116"/>
              </a:spcBef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Kushagra Singh (22104182) </a:t>
            </a:r>
            <a:endParaRPr lang="en-US" sz="18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LMNO+TimesNewRomanPSMT"/>
              <a:cs typeface="KOLMNO+TimesNewRomanPSMT"/>
            </a:endParaRPr>
          </a:p>
          <a:p>
            <a:pPr>
              <a:lnSpc>
                <a:spcPts val="1993"/>
              </a:lnSpc>
              <a:spcBef>
                <a:spcPts val="116"/>
              </a:spcBef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Pranav Patil (21104134)</a:t>
            </a:r>
            <a:endParaRPr lang="en-US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LMNO+TimesNewRomanPSMT"/>
              <a:cs typeface="KOLMNO+TimesNewRomanPSMT"/>
            </a:endParaRPr>
          </a:p>
          <a:p>
            <a:pPr marL="0" marR="0">
              <a:lnSpc>
                <a:spcPts val="1993"/>
              </a:lnSpc>
              <a:spcBef>
                <a:spcPts val="116"/>
              </a:spcBef>
              <a:spcAft>
                <a:spcPts val="0"/>
              </a:spcAft>
            </a:pPr>
            <a:endParaRPr sz="1800" dirty="0">
              <a:solidFill>
                <a:srgbClr val="000000"/>
              </a:solidFill>
              <a:latin typeface="KOLMNO+TimesNewRomanPSMT"/>
              <a:cs typeface="KOLMNO+TimesNewRomanPS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8397" y="3217429"/>
            <a:ext cx="2236751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Under the Guidance of</a:t>
            </a:r>
            <a:endParaRPr lang="en-IN" sz="1800" dirty="0">
              <a:solidFill>
                <a:srgbClr val="000000"/>
              </a:solidFill>
              <a:latin typeface="KOLMNO+TimesNewRomanPSMT"/>
              <a:cs typeface="KOLMNO+TimesNewRomanPSMT"/>
            </a:endParaRPr>
          </a:p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>
                <a:solidFill>
                  <a:srgbClr val="000000"/>
                </a:solidFill>
                <a:latin typeface="KOLMNO+TimesNewRomanPSMT"/>
              </a:rPr>
              <a:t>   </a:t>
            </a:r>
            <a:r>
              <a:rPr lang="en-IN" b="1" dirty="0"/>
              <a:t>Dr. Vaibhav </a:t>
            </a:r>
            <a:r>
              <a:rPr lang="en-IN" b="1" dirty="0" err="1"/>
              <a:t>Yavalkar</a:t>
            </a:r>
            <a:endParaRPr sz="1800" b="1" dirty="0">
              <a:solidFill>
                <a:srgbClr val="000000"/>
              </a:solidFill>
              <a:latin typeface="KOLMNO+TimesNewRomanPSMT"/>
              <a:cs typeface="KOLMNO+TimesNewRomanPS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8289" y="2752123"/>
            <a:ext cx="7819466" cy="60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2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1.Project Conception and Initiation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544" y="345236"/>
            <a:ext cx="2139444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1.1 Abstract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1A7FAE-DFE2-2BD0-9CB6-DEC395FEB79F}"/>
              </a:ext>
            </a:extLst>
          </p:cNvPr>
          <p:cNvSpPr txBox="1"/>
          <p:nvPr/>
        </p:nvSpPr>
        <p:spPr>
          <a:xfrm>
            <a:off x="827584" y="987574"/>
            <a:ext cx="6840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AI-augmented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designed to automate cloud infrastructure creation and management through natural language inputs. It enables users to generate Terraform Infrastructure-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automatically from plain text prompts, ensuring secure and efficient infrastructure deployment. The system integrates multiple security validation tools such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Checkov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tfsec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Terrascan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OPA to prevent misconfigurations and compliance issues. Using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CI/CD pipeline,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smooth deployment and continuous validation, while Prometheus and Grafana provide monitoring and anomaly detection. The goal is to create a free-tier-friendly, production-ready platform that simplifies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developers, students, and small teams.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544" y="411510"/>
            <a:ext cx="2434523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1.2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1085F-A2E0-AFDC-1FE1-177C1836AC03}"/>
              </a:ext>
            </a:extLst>
          </p:cNvPr>
          <p:cNvSpPr txBox="1"/>
          <p:nvPr/>
        </p:nvSpPr>
        <p:spPr>
          <a:xfrm>
            <a:off x="827584" y="871537"/>
            <a:ext cx="705678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•To generate Terraform Infrastructure as Code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prompts.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•To integrate multiple security scanning tools like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Checkov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tfsec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Terrascan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OPA for compliance validation.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•To design 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CI/CD pipeline for automated and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deployments.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•To incorporate monitoring tools like Prometheus and Grafana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drift detection and anomaly tracking.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•To develop a cost-effective and user-friendly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accessible to small teams and students.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107504" y="1203598"/>
            <a:ext cx="9144000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79512" y="107571"/>
            <a:ext cx="3690938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434343"/>
                </a:solidFill>
                <a:latin typeface="QHJKMV+TimesNewRomanPS-BoldMT"/>
                <a:cs typeface="QHJKMV+TimesNewRomanPS-BoldMT"/>
              </a:rPr>
              <a:t>1.3 Literature Review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01A5A7-0071-5B77-FBF7-88CF06A46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056594"/>
              </p:ext>
            </p:extLst>
          </p:nvPr>
        </p:nvGraphicFramePr>
        <p:xfrm>
          <a:off x="96495" y="567598"/>
          <a:ext cx="8892988" cy="41656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5500">
                  <a:extLst>
                    <a:ext uri="{9D8B030D-6E8A-4147-A177-3AD203B41FA5}">
                      <a16:colId xmlns:a16="http://schemas.microsoft.com/office/drawing/2014/main" val="1958026025"/>
                    </a:ext>
                  </a:extLst>
                </a:gridCol>
                <a:gridCol w="1519071">
                  <a:extLst>
                    <a:ext uri="{9D8B030D-6E8A-4147-A177-3AD203B41FA5}">
                      <a16:colId xmlns:a16="http://schemas.microsoft.com/office/drawing/2014/main" val="1637370412"/>
                    </a:ext>
                  </a:extLst>
                </a:gridCol>
                <a:gridCol w="951773">
                  <a:extLst>
                    <a:ext uri="{9D8B030D-6E8A-4147-A177-3AD203B41FA5}">
                      <a16:colId xmlns:a16="http://schemas.microsoft.com/office/drawing/2014/main" val="1519904858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658256375"/>
                    </a:ext>
                  </a:extLst>
                </a:gridCol>
                <a:gridCol w="5148572">
                  <a:extLst>
                    <a:ext uri="{9D8B030D-6E8A-4147-A177-3AD203B41FA5}">
                      <a16:colId xmlns:a16="http://schemas.microsoft.com/office/drawing/2014/main" val="3422026184"/>
                    </a:ext>
                  </a:extLst>
                </a:gridCol>
              </a:tblGrid>
              <a:tr h="471581">
                <a:tc>
                  <a:txBody>
                    <a:bodyPr/>
                    <a:lstStyle/>
                    <a:p>
                      <a:r>
                        <a:rPr lang="en-US" sz="1600" dirty="0"/>
                        <a:t>No.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Paper Title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Author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Year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Findings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529429"/>
                  </a:ext>
                </a:extLst>
              </a:tr>
              <a:tr h="71611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[1]</a:t>
                      </a:r>
                      <a:endParaRPr lang="en-IN" sz="1200" dirty="0"/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AI-Augmented </a:t>
                      </a:r>
                      <a:r>
                        <a:rPr lang="en-IN" sz="1200" dirty="0" err="1"/>
                        <a:t>DevSecOps</a:t>
                      </a:r>
                      <a:r>
                        <a:rPr lang="en-IN" sz="1200" dirty="0"/>
                        <a:t>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S. K. Chinnam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Introduced AI-based automation, telemetry-driven threat detection and compliance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098534"/>
                  </a:ext>
                </a:extLst>
              </a:tr>
              <a:tr h="744453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[2]</a:t>
                      </a:r>
                      <a:endParaRPr lang="en-IN" sz="1200" dirty="0"/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Using Large Language Models for Generating </a:t>
                      </a:r>
                      <a:r>
                        <a:rPr lang="en-US" sz="1200" dirty="0" err="1"/>
                        <a:t>IaC</a:t>
                      </a:r>
                      <a:r>
                        <a:rPr lang="en-US" sz="1200" dirty="0"/>
                        <a:t>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200" dirty="0"/>
                        <a:t>K. Ganesh Srivatsa et al.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039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Demonstrated that LLMs can translate natural language to </a:t>
                      </a:r>
                      <a:r>
                        <a:rPr lang="en-US" sz="1200" dirty="0" err="1"/>
                        <a:t>IaC</a:t>
                      </a:r>
                      <a:r>
                        <a:rPr lang="en-US" sz="1200" dirty="0"/>
                        <a:t>, simplifying infrastructure provisioning.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669375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[3]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DevSecOps</a:t>
                      </a:r>
                      <a:r>
                        <a:rPr lang="en-IN" sz="1200" dirty="0"/>
                        <a:t> Automation for Secure Cloud Infrastructure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S. Rao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Proposed automated security enforcement and remediation workflows.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994731"/>
                  </a:ext>
                </a:extLst>
              </a:tr>
              <a:tr h="7052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Automated </a:t>
                      </a:r>
                      <a:r>
                        <a:rPr lang="en-US" sz="1200" dirty="0" err="1"/>
                        <a:t>IaC</a:t>
                      </a:r>
                      <a:r>
                        <a:rPr lang="en-US" sz="1200" dirty="0"/>
                        <a:t> Validation using Policy-as-Code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A. Sharma, N. Gupta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Implemented automated validation using OPA and static analysis tools.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48808"/>
                  </a:ext>
                </a:extLst>
              </a:tr>
              <a:tr h="7052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InfraSage</a:t>
                      </a:r>
                      <a:r>
                        <a:rPr lang="en-IN" sz="1200" dirty="0"/>
                        <a:t> (This Work)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Sahil Gada et al.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Developed an AI-native framework combining NLP-based </a:t>
                      </a:r>
                      <a:r>
                        <a:rPr lang="en-US" sz="1200" dirty="0" err="1"/>
                        <a:t>IaC</a:t>
                      </a:r>
                      <a:r>
                        <a:rPr lang="en-US" sz="1200" dirty="0"/>
                        <a:t> generation, multi-layer security scanning, </a:t>
                      </a:r>
                      <a:r>
                        <a:rPr lang="en-US" sz="1200" dirty="0" err="1"/>
                        <a:t>GitOps</a:t>
                      </a:r>
                      <a:r>
                        <a:rPr lang="en-US" sz="1200" dirty="0"/>
                        <a:t> CI/CD and monitoring.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0496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1759" y="564782"/>
            <a:ext cx="3840156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1.4 Problem Definition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FA0D8-E5DC-B7BC-2334-3CA5DF68D39E}"/>
              </a:ext>
            </a:extLst>
          </p:cNvPr>
          <p:cNvSpPr txBox="1"/>
          <p:nvPr/>
        </p:nvSpPr>
        <p:spPr>
          <a:xfrm>
            <a:off x="683568" y="1347614"/>
            <a:ext cx="7560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Infrastructure-as-Code creation is error-prone, time-consuming,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prone to security flaws. Developers must manage multiple tools for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generation, validation, and deployment, which increases complexity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risk. There is currently no unified system that can automatically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generate, validate, deploy, and monitor secure cloud infrastructure using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solve this problem by developing an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framework that integrates these processes seamlessly,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human error and improving reliability.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544" y="483518"/>
            <a:ext cx="1674944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1.5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18A22-51A6-A262-964F-C3CD5CEB423A}"/>
              </a:ext>
            </a:extLst>
          </p:cNvPr>
          <p:cNvSpPr txBox="1"/>
          <p:nvPr/>
        </p:nvSpPr>
        <p:spPr>
          <a:xfrm>
            <a:off x="611560" y="967447"/>
            <a:ext cx="77768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•AI-driven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automating secure cloud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creation using Terraform.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•Uses NLP to convert user prompts into Terraform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manual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•Implements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CI/CD via Digger and GitHub Actions with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drift detection and remediation.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•Enables real-time monitoring and alerting through Prometheus,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Grafana, Slack, and Email.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•Integrates multi-layer security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Checkov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tfsec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Terrascan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OPA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validation and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1759" y="564782"/>
            <a:ext cx="3545517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1.6 Technology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B979A-7614-59C1-2CEA-7FEF1B72E562}"/>
              </a:ext>
            </a:extLst>
          </p:cNvPr>
          <p:cNvSpPr txBox="1"/>
          <p:nvPr/>
        </p:nvSpPr>
        <p:spPr>
          <a:xfrm>
            <a:off x="539552" y="1347614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Terraform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•Security Tools: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Checkov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tfsec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Terrascan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•CI/CD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GitHub Actions, Digger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•Containerization: Docker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•Monitoring: Prometheus, Grafana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•Alerts &amp; Notifications: Slack, Email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339502"/>
            <a:ext cx="6449822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1.7 Benefits for environment &amp; Society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B3C21-1C00-29E6-8D65-8A1D8507E391}"/>
              </a:ext>
            </a:extLst>
          </p:cNvPr>
          <p:cNvSpPr txBox="1"/>
          <p:nvPr/>
        </p:nvSpPr>
        <p:spPr>
          <a:xfrm>
            <a:off x="827584" y="1059582"/>
            <a:ext cx="70258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promotes sustainable cloud computing by reducing resource wastage through drift detection and anomaly monitoring. It enhances societal cybersecurity by enforcing secure infrastructure deployment before production. Additionally, it democratizes access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automation for students and small organizations, contributing to inclusive innovation aligned with SDG 9.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0477B-CD64-C654-60D6-7D7CD8910331}"/>
              </a:ext>
            </a:extLst>
          </p:cNvPr>
          <p:cNvSpPr txBox="1"/>
          <p:nvPr/>
        </p:nvSpPr>
        <p:spPr>
          <a:xfrm>
            <a:off x="827584" y="3073961"/>
            <a:ext cx="5832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stable digital service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banking,education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health apps, e-commerce).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99F9B7-67ED-42B2-6BCA-E2510B41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150931C-B833-FAA3-D8CA-45D23A81614C}"/>
              </a:ext>
            </a:extLst>
          </p:cNvPr>
          <p:cNvSpPr txBox="1"/>
          <p:nvPr/>
        </p:nvSpPr>
        <p:spPr>
          <a:xfrm>
            <a:off x="401759" y="564782"/>
            <a:ext cx="644982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defRPr/>
            </a:pP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SDG Mapped with Contribution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16033-19D2-D4D2-8241-F83D708565CB}"/>
              </a:ext>
            </a:extLst>
          </p:cNvPr>
          <p:cNvSpPr txBox="1"/>
          <p:nvPr/>
        </p:nvSpPr>
        <p:spPr>
          <a:xfrm>
            <a:off x="827584" y="1203598"/>
            <a:ext cx="7200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aligns with the United Nations’ Sustainable Development Goal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(SDG) 9: Industry, Innovation, and Infrastructure.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contributes to digital transformation by promoting innovation in the field of secure infrastructure automation. It helps build sustainable, reliable,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costefficient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solutions that support industrial growth and technological advancement. By making such tools accessible to students, developers, and startups,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to building robust digital infrastructure that encourages innovation and inclusive development.</a:t>
            </a:r>
          </a:p>
        </p:txBody>
      </p:sp>
    </p:spTree>
    <p:extLst>
      <p:ext uri="{BB962C8B-B14F-4D97-AF65-F5344CB8AC3E}">
        <p14:creationId xmlns:p14="http://schemas.microsoft.com/office/powerpoint/2010/main" val="908230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9436" y="2723535"/>
            <a:ext cx="4013332" cy="628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51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2. Project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1759" y="564782"/>
            <a:ext cx="3503297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2.1 Proposed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16ECD-C0DF-BEBE-7FEB-8B96FA672D76}"/>
              </a:ext>
            </a:extLst>
          </p:cNvPr>
          <p:cNvSpPr txBox="1"/>
          <p:nvPr/>
        </p:nvSpPr>
        <p:spPr>
          <a:xfrm>
            <a:off x="611560" y="1131590"/>
            <a:ext cx="75608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proposes an integrated AI-native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that: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Translates natural language prompts into validated, secure Terraform code.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Embeds multi-layer security scanning across the CI/CD pipeline.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(Digger + GitHub Actions) for compliant, auditable deployment flows.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Runs scheduled drift detection with automated remediation PRs.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Prometheus + Grafana telemetry and ML-based anomaly detection for observability and alerts.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20538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4887217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2.2 Design(</a:t>
            </a:r>
            <a:r>
              <a:rPr lang="en-IN"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UML Diagram</a:t>
            </a: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87777F-0C66-1CBB-C671-A1396199C3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5" y="1203598"/>
            <a:ext cx="7632849" cy="35191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20538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5536" y="282391"/>
            <a:ext cx="4685988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2.3 Description Of Use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262C9-09FE-8D84-0F0E-15A31EEFD7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742419"/>
            <a:ext cx="6336704" cy="42055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7544" y="282391"/>
            <a:ext cx="3481454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2.4 Activity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3C70B-97DE-DBB0-2C1A-5C2EF526E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742418"/>
            <a:ext cx="6552728" cy="41186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9552" y="335781"/>
            <a:ext cx="3122933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2.5 Class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90300-483D-43C9-A906-07B8D402F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48" y="843558"/>
            <a:ext cx="8136904" cy="38154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9360" y="2798433"/>
            <a:ext cx="4680982" cy="634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3. Implementation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FBC5C-9DCD-DCD9-F444-5C58564A4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D144D-203F-926E-DE94-F3D5454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6933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442AA31-0033-E355-A5DD-2D0B6805C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0233999-A532-476C-E177-C2BD7EE9D597}"/>
              </a:ext>
            </a:extLst>
          </p:cNvPr>
          <p:cNvSpPr txBox="1"/>
          <p:nvPr/>
        </p:nvSpPr>
        <p:spPr>
          <a:xfrm>
            <a:off x="395536" y="195486"/>
            <a:ext cx="8130681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defRPr/>
            </a:pPr>
            <a:r>
              <a:rPr lang="en-US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Cost Estimation using COCOMO-II Model</a:t>
            </a:r>
            <a:endParaRPr lang="en-I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1AD783-D0D3-CC8C-E904-CDD822950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302653"/>
              </p:ext>
            </p:extLst>
          </p:nvPr>
        </p:nvGraphicFramePr>
        <p:xfrm>
          <a:off x="1256520" y="771550"/>
          <a:ext cx="6915880" cy="39985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5289">
                  <a:extLst>
                    <a:ext uri="{9D8B030D-6E8A-4147-A177-3AD203B41FA5}">
                      <a16:colId xmlns:a16="http://schemas.microsoft.com/office/drawing/2014/main" val="1958026025"/>
                    </a:ext>
                  </a:extLst>
                </a:gridCol>
                <a:gridCol w="2805701">
                  <a:extLst>
                    <a:ext uri="{9D8B030D-6E8A-4147-A177-3AD203B41FA5}">
                      <a16:colId xmlns:a16="http://schemas.microsoft.com/office/drawing/2014/main" val="1637370412"/>
                    </a:ext>
                  </a:extLst>
                </a:gridCol>
                <a:gridCol w="1730754">
                  <a:extLst>
                    <a:ext uri="{9D8B030D-6E8A-4147-A177-3AD203B41FA5}">
                      <a16:colId xmlns:a16="http://schemas.microsoft.com/office/drawing/2014/main" val="1519904858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658256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No.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Cost Component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Calculation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Amount(Rs)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529429"/>
                  </a:ext>
                </a:extLst>
              </a:tr>
              <a:tr h="71611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[1]</a:t>
                      </a:r>
                      <a:endParaRPr lang="en-IN" sz="1200" dirty="0"/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Paid Software Costing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098534"/>
                  </a:ext>
                </a:extLst>
              </a:tr>
              <a:tr h="744453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[2]</a:t>
                      </a:r>
                      <a:endParaRPr lang="en-IN" sz="1200" dirty="0"/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Developer Cost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 × 30,000 ×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2,40,000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669375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[3]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System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4×55,000 = 2,20,000 → 25% = 55,000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55,000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994731"/>
                  </a:ext>
                </a:extLst>
              </a:tr>
              <a:tr h="7052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Additional H/W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48808"/>
                  </a:ext>
                </a:extLst>
              </a:tr>
              <a:tr h="7052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Miscellaneous Costs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10,000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049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298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2639" y="2719593"/>
            <a:ext cx="2638415" cy="634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4. Testing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33973E5-BB50-9C05-8F3D-BB4E2BD7B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461665"/>
          </a:xfrm>
        </p:spPr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Testing: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3F609-F072-7EB7-3D45-FB2DDCD326C0}"/>
              </a:ext>
            </a:extLst>
          </p:cNvPr>
          <p:cNvSpPr txBox="1"/>
          <p:nvPr/>
        </p:nvSpPr>
        <p:spPr>
          <a:xfrm>
            <a:off x="755576" y="1203598"/>
            <a:ext cx="73448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ensures that each component of the Natural Language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Automation System performs correctly, integrates smoothly, and meets both functional and non-functional requirements.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testing process was divided into unit testing, integration testing, system testing, and user acceptance testing (UAT)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411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2639" y="2719593"/>
            <a:ext cx="2372465" cy="634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5. Result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12D8F-B2C2-6A9C-CEF0-53D5FC177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461665"/>
          </a:xfrm>
        </p:spPr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 Result: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D6118-EEC2-7955-9C6C-7E24CA8E8570}"/>
              </a:ext>
            </a:extLst>
          </p:cNvPr>
          <p:cNvSpPr txBox="1"/>
          <p:nvPr/>
        </p:nvSpPr>
        <p:spPr>
          <a:xfrm>
            <a:off x="827584" y="1141053"/>
            <a:ext cx="71287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system successfully demonstrates the conversion of natural language (NL) prompts into Terraform-based Infrastructure-as-Code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configurations, followed by automated validation and deployment through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CI/CD workflow.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components — from prompt parsing to monitoring — functioned cohesively to achieve the intended automation and governance objectives.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5518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2639" y="2079513"/>
            <a:ext cx="6542892" cy="12740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6. Conclusion and Future</a:t>
            </a:r>
          </a:p>
          <a:p>
            <a:pPr marL="0" marR="0">
              <a:lnSpc>
                <a:spcPts val="4692"/>
              </a:lnSpc>
              <a:spcBef>
                <a:spcPts val="347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Scope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DDBF-437F-BD76-E133-8DB76746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267494"/>
            <a:ext cx="6797992" cy="461665"/>
          </a:xfrm>
        </p:spPr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FDD68-D3FB-14BC-D40D-81418A12E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3608" y="915566"/>
            <a:ext cx="6797992" cy="387798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represents an innovative approach to intelligent infrastructure automation, designed to streamline the management, deployment, and monitoring of cloud resources through a blend of artificial intelligence and Infrastructure-as-Code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practices.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integrating natural language processing, automated policy validation, and self-healing workflows, the system redefines how infrastructure is created, governed, and maintained.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its foundation,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introduces a command-line interface capable of generating Terraform code through natural language input, allowing users to translate plain-text intent into precise, executable configurations.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070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123478"/>
            <a:ext cx="1929221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2F67C-1A1F-F353-23EA-005C53C46E64}"/>
              </a:ext>
            </a:extLst>
          </p:cNvPr>
          <p:cNvSpPr txBox="1"/>
          <p:nvPr/>
        </p:nvSpPr>
        <p:spPr>
          <a:xfrm>
            <a:off x="395536" y="483518"/>
            <a:ext cx="839559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[1] S. K. Chinnam, “AI-Augmented </a:t>
            </a:r>
            <a:r>
              <a:rPr lang="en-IN" dirty="0" err="1"/>
              <a:t>DevSecOps</a:t>
            </a:r>
            <a:r>
              <a:rPr lang="en-IN" dirty="0"/>
              <a:t>: Automating Threat Detection and Compliance in Cloud-Native Pipelines Using Telemetry and Policy-as-Code,” </a:t>
            </a:r>
            <a:r>
              <a:rPr lang="en-IN" i="1" dirty="0"/>
              <a:t>International</a:t>
            </a:r>
          </a:p>
          <a:p>
            <a:r>
              <a:rPr lang="en-IN" i="1" dirty="0"/>
              <a:t>Journal of Computer Engineering and Technology (IJCET), </a:t>
            </a:r>
            <a:r>
              <a:rPr lang="en-IN" dirty="0"/>
              <a:t>Vol. 15, No. 1, Jan–Feb</a:t>
            </a:r>
          </a:p>
          <a:p>
            <a:r>
              <a:rPr lang="en-IN" dirty="0"/>
              <a:t>2024.</a:t>
            </a:r>
          </a:p>
          <a:p>
            <a:r>
              <a:rPr lang="en-IN" dirty="0"/>
              <a:t>[2] K. Ganesh Srivatsa, S. Mukhopadhyay, G. </a:t>
            </a:r>
            <a:r>
              <a:rPr lang="en-IN" dirty="0" err="1"/>
              <a:t>Katrapati</a:t>
            </a:r>
            <a:r>
              <a:rPr lang="en-IN" dirty="0"/>
              <a:t>, and M. Shrivastava, “</a:t>
            </a:r>
            <a:r>
              <a:rPr lang="en-IN" i="1" dirty="0"/>
              <a:t>A Survey of Using Large Language Models for Generating Infrastructure as Code,</a:t>
            </a:r>
            <a:r>
              <a:rPr lang="en-IN" dirty="0"/>
              <a:t>” </a:t>
            </a:r>
            <a:r>
              <a:rPr lang="en-IN" dirty="0" err="1"/>
              <a:t>arXiv</a:t>
            </a:r>
            <a:endParaRPr lang="en-IN" dirty="0"/>
          </a:p>
          <a:p>
            <a:r>
              <a:rPr lang="en-IN" dirty="0"/>
              <a:t>preprint, March 2024.</a:t>
            </a:r>
          </a:p>
          <a:p>
            <a:endParaRPr lang="en-IN" dirty="0"/>
          </a:p>
          <a:p>
            <a:r>
              <a:rPr lang="en-IN" dirty="0"/>
              <a:t>[3] X. Yu, H. Xu, and Z. Wu, “</a:t>
            </a:r>
            <a:r>
              <a:rPr lang="en-IN" i="1" dirty="0"/>
              <a:t>Research on the Integration Technology of Complex </a:t>
            </a:r>
            <a:r>
              <a:rPr lang="en-IN" i="1" dirty="0" err="1"/>
              <a:t>MultiSchedule</a:t>
            </a:r>
            <a:r>
              <a:rPr lang="en-IN" i="1" dirty="0"/>
              <a:t> Scheduling: A Case Study of Exam Scheduling in Colleges,</a:t>
            </a:r>
            <a:r>
              <a:rPr lang="en-IN" dirty="0"/>
              <a:t>” 2024.</a:t>
            </a:r>
          </a:p>
          <a:p>
            <a:endParaRPr lang="en-IN" dirty="0"/>
          </a:p>
          <a:p>
            <a:r>
              <a:rPr lang="en-IN" dirty="0"/>
              <a:t>[4] A. Sharma and N. Gupta, “</a:t>
            </a:r>
            <a:r>
              <a:rPr lang="en-IN" i="1" dirty="0"/>
              <a:t>Automated </a:t>
            </a:r>
            <a:r>
              <a:rPr lang="en-IN" i="1" dirty="0" err="1"/>
              <a:t>IaC</a:t>
            </a:r>
            <a:r>
              <a:rPr lang="en-IN" i="1" dirty="0"/>
              <a:t> Validation using Policy-as-Code</a:t>
            </a:r>
            <a:r>
              <a:rPr lang="en-IN" dirty="0"/>
              <a:t>,” IEEE</a:t>
            </a:r>
          </a:p>
          <a:p>
            <a:r>
              <a:rPr lang="en-IN" dirty="0"/>
              <a:t>Conference on Cloud Computing Technologies, 2022.</a:t>
            </a:r>
          </a:p>
          <a:p>
            <a:endParaRPr lang="en-IN" dirty="0"/>
          </a:p>
          <a:p>
            <a:r>
              <a:rPr lang="en-IN" dirty="0"/>
              <a:t>[5] S. Rao, P. Mehta, and R. Deshmukh, “</a:t>
            </a:r>
            <a:r>
              <a:rPr lang="en-IN" i="1" dirty="0" err="1"/>
              <a:t>DevSecOps</a:t>
            </a:r>
            <a:r>
              <a:rPr lang="en-IN" i="1" dirty="0"/>
              <a:t> Automation for Secure Cloud Infrastructure</a:t>
            </a:r>
            <a:r>
              <a:rPr lang="en-IN" dirty="0"/>
              <a:t>,” International Journal of Advanced Research in Computer Science, 2023.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1966"/>
            <a:ext cx="3134798" cy="463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JLPAIK+ArialMT"/>
                <a:cs typeface="JLPAIK+ArialMT"/>
              </a:rPr>
              <a:t>Paper Publication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03991" y="2723535"/>
            <a:ext cx="2744856" cy="628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51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</TotalTime>
  <Words>1409</Words>
  <Application>Microsoft Office PowerPoint</Application>
  <PresentationFormat>ऑन-स्क्रीन शो (16:9)</PresentationFormat>
  <Paragraphs>191</Paragraphs>
  <Slides>29</Slides>
  <Notes>1</Notes>
  <HiddenSlides>0</HiddenSlides>
  <MMClips>0</MMClips>
  <ScaleCrop>false</ScaleCrop>
  <HeadingPairs>
    <vt:vector size="6" baseType="variant">
      <vt:variant>
        <vt:lpstr>वापरलेले फॉन्ट</vt:lpstr>
      </vt:variant>
      <vt:variant>
        <vt:i4>7</vt:i4>
      </vt:variant>
      <vt:variant>
        <vt:lpstr>थीम</vt:lpstr>
      </vt:variant>
      <vt:variant>
        <vt:i4>1</vt:i4>
      </vt:variant>
      <vt:variant>
        <vt:lpstr>स्लाइड शीर्षके</vt:lpstr>
      </vt:variant>
      <vt:variant>
        <vt:i4>29</vt:i4>
      </vt:variant>
    </vt:vector>
  </HeadingPairs>
  <TitlesOfParts>
    <vt:vector size="37" baseType="lpstr">
      <vt:lpstr>CRAJMG+Arial-BoldMT</vt:lpstr>
      <vt:lpstr>KOLMNO+TimesNewRomanPSMT</vt:lpstr>
      <vt:lpstr>Calibri</vt:lpstr>
      <vt:lpstr>QHJKMV+TimesNewRomanPS-BoldMT</vt:lpstr>
      <vt:lpstr>JLPAIK+ArialMT</vt:lpstr>
      <vt:lpstr>Times New Roman</vt:lpstr>
      <vt:lpstr>Arial</vt:lpstr>
      <vt:lpstr>Theme Office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PowerPoint सादरीकरण</vt:lpstr>
      <vt:lpstr>4.1 Testing:</vt:lpstr>
      <vt:lpstr>PowerPoint सादरीकरण</vt:lpstr>
      <vt:lpstr>5.1 Result:</vt:lpstr>
      <vt:lpstr>PowerPoint सादरीकरण</vt:lpstr>
      <vt:lpstr>6.1 Conclusion</vt:lpstr>
      <vt:lpstr>PowerPoint सादरीकरण</vt:lpstr>
      <vt:lpstr>PowerPoint सादरीकरण</vt:lpstr>
      <vt:lpstr>PowerPoint सादरीकरण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Pranav Patil</dc:creator>
  <cp:lastModifiedBy>Pranav Patil</cp:lastModifiedBy>
  <cp:revision>4</cp:revision>
  <dcterms:modified xsi:type="dcterms:W3CDTF">2026-03-02T08:11:06Z</dcterms:modified>
</cp:coreProperties>
</file>